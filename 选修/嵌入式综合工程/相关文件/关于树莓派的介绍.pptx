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33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34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35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36.xml" ContentType="application/vnd.openxmlformats-officedocument.presentationml.notesSlide+xml"/>
  <Override PartName="/ppt/theme/themeOverride36.xml" ContentType="application/vnd.openxmlformats-officedocument.themeOverride+xml"/>
  <Override PartName="/ppt/notesSlides/notesSlide37.xml" ContentType="application/vnd.openxmlformats-officedocument.presentationml.notesSlide+xml"/>
  <Override PartName="/ppt/theme/themeOverride37.xml" ContentType="application/vnd.openxmlformats-officedocument.themeOverride+xml"/>
  <Override PartName="/ppt/notesSlides/notesSlide38.xml" ContentType="application/vnd.openxmlformats-officedocument.presentationml.notesSlide+xml"/>
  <Override PartName="/ppt/theme/themeOverride38.xml" ContentType="application/vnd.openxmlformats-officedocument.themeOverride+xml"/>
  <Override PartName="/ppt/notesSlides/notesSlide39.xml" ContentType="application/vnd.openxmlformats-officedocument.presentationml.notesSlide+xml"/>
  <Override PartName="/ppt/theme/themeOverride39.xml" ContentType="application/vnd.openxmlformats-officedocument.themeOverride+xml"/>
  <Override PartName="/ppt/notesSlides/notesSlide40.xml" ContentType="application/vnd.openxmlformats-officedocument.presentationml.notesSlide+xml"/>
  <Override PartName="/ppt/theme/themeOverride40.xml" ContentType="application/vnd.openxmlformats-officedocument.themeOverride+xml"/>
  <Override PartName="/ppt/notesSlides/notesSlide41.xml" ContentType="application/vnd.openxmlformats-officedocument.presentationml.notesSlide+xml"/>
  <Override PartName="/ppt/theme/themeOverride4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6"/>
  </p:notesMasterIdLst>
  <p:sldIdLst>
    <p:sldId id="276" r:id="rId3"/>
    <p:sldId id="373" r:id="rId4"/>
    <p:sldId id="403" r:id="rId5"/>
    <p:sldId id="459" r:id="rId6"/>
    <p:sldId id="460" r:id="rId7"/>
    <p:sldId id="461" r:id="rId8"/>
    <p:sldId id="462" r:id="rId9"/>
    <p:sldId id="463" r:id="rId10"/>
    <p:sldId id="464" r:id="rId11"/>
    <p:sldId id="465" r:id="rId12"/>
    <p:sldId id="481" r:id="rId13"/>
    <p:sldId id="499" r:id="rId14"/>
    <p:sldId id="483" r:id="rId15"/>
    <p:sldId id="500" r:id="rId16"/>
    <p:sldId id="484" r:id="rId17"/>
    <p:sldId id="486" r:id="rId18"/>
    <p:sldId id="517" r:id="rId19"/>
    <p:sldId id="518" r:id="rId20"/>
    <p:sldId id="487" r:id="rId21"/>
    <p:sldId id="520" r:id="rId22"/>
    <p:sldId id="489" r:id="rId23"/>
    <p:sldId id="521" r:id="rId24"/>
    <p:sldId id="522" r:id="rId25"/>
    <p:sldId id="523" r:id="rId26"/>
    <p:sldId id="524" r:id="rId27"/>
    <p:sldId id="494" r:id="rId28"/>
    <p:sldId id="495" r:id="rId29"/>
    <p:sldId id="498" r:id="rId30"/>
    <p:sldId id="497" r:id="rId31"/>
    <p:sldId id="496" r:id="rId32"/>
    <p:sldId id="501" r:id="rId33"/>
    <p:sldId id="502" r:id="rId34"/>
    <p:sldId id="504" r:id="rId35"/>
    <p:sldId id="505" r:id="rId36"/>
    <p:sldId id="507" r:id="rId37"/>
    <p:sldId id="509" r:id="rId38"/>
    <p:sldId id="506" r:id="rId39"/>
    <p:sldId id="510" r:id="rId40"/>
    <p:sldId id="516" r:id="rId41"/>
    <p:sldId id="513" r:id="rId42"/>
    <p:sldId id="515" r:id="rId43"/>
    <p:sldId id="511" r:id="rId44"/>
    <p:sldId id="295" r:id="rId4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0099FF"/>
    <a:srgbClr val="CC0099"/>
    <a:srgbClr val="FF0000"/>
    <a:srgbClr val="FF9900"/>
    <a:srgbClr val="006600"/>
    <a:srgbClr val="000066"/>
    <a:srgbClr val="F6EB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540" y="72"/>
      </p:cViewPr>
      <p:guideLst>
        <p:guide orient="horz" pos="2160"/>
        <p:guide pos="29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1B1E1073-A644-43C4-9A4E-66802A5806C7}" type="slidenum">
              <a:rPr lang="zh-CN" altLang="en-US"/>
              <a:pPr/>
              <a:t>‹#›</a:t>
            </a:fld>
            <a:endParaRPr 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14034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8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9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2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3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4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5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6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7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8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9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9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0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2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3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4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5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5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6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6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7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7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8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0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9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40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大家好，首先非常感谢李老师能给我这次机会，让我跟大家介绍一下树莓派这个好玩的东西。我是刘文东，大家应该都认识我吧？很多人在</a:t>
            </a:r>
            <a:r>
              <a:rPr lang="en-US">
                <a:ea typeface="宋体" panose="02010600030101010101" pitchFamily="2" charset="-122"/>
              </a:rPr>
              <a:t>412</a:t>
            </a:r>
            <a:r>
              <a:rPr lang="zh-CN" altLang="en-US"/>
              <a:t>实验室都见过我吧？有没有在睿思上下载过我的课件，参考过我的实验报告？今天的主角是树莓派，给大家讲座的题目是玩转树莓派。上面这个图片是树莓派的</a:t>
            </a:r>
            <a:r>
              <a:rPr lang="en-US">
                <a:ea typeface="宋体" panose="02010600030101010101" pitchFamily="2" charset="-122"/>
              </a:rPr>
              <a:t>logo</a:t>
            </a:r>
            <a:r>
              <a:rPr lang="zh-CN" altLang="en-US"/>
              <a:t>，大家是不是觉得挺好看的？红色的，挺吉利的。好了，现在开始介绍关于树莓派的内容。</a:t>
            </a:r>
          </a:p>
        </p:txBody>
      </p:sp>
      <p:sp>
        <p:nvSpPr>
          <p:cNvPr id="512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E5DBC505-6939-4D44-953B-86DC5F3CB5BF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8653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今天我们分五个方面介绍一下树莓派，首先是问一下大家，想不想学习嵌入式开发，以后有没有人想找硬件方面的工作？然后介绍一下树莓派是什么？我们是如何定位树莓派的？然后介绍一下树莓派可以用来干什么？接下来介绍一下如何入手，大家如何玩转树莓派，最后你就可以行动起来了。下面分别详细给大家介绍每个部分的内容。</a:t>
            </a:r>
          </a:p>
        </p:txBody>
      </p:sp>
      <p:sp>
        <p:nvSpPr>
          <p:cNvPr id="717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7AC22F2D-4104-4693-A0B5-7E74045F7E7B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9750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    首先是第一个方面，在这里问一下大家？想不想从事嵌入式开发？我觉得，这首先要看每个人的兴趣，对硬件敢不敢兴趣？当然，嵌入式不只是硬件，还有软件，软硬件都有涉及，其次是要考虑以后要从事什么样的工作？做嵌入式开发吗？还是互联网企业？现在我感觉嵌入式有些没落，举个很简单的例子，就是你们这一届选嵌入式方向的学生才</a:t>
            </a:r>
            <a:r>
              <a:rPr lang="en-US">
                <a:ea typeface="宋体" panose="02010600030101010101" pitchFamily="2" charset="-122"/>
              </a:rPr>
              <a:t>40</a:t>
            </a:r>
            <a:r>
              <a:rPr lang="zh-CN" altLang="en-US"/>
              <a:t>多个人，大家都选网络去了。在这里假设大家对嵌入式有点兴趣，然后才能进行下面的内容，接下来跟大家聊一下学习嵌入式需要哪些基础知识，大家是卓越班的同学，这学期学了三门硬件，分别是。。。这些都是嵌入式方面的课程。接下来跟大家讨论一下学嵌入式要如何选择一个合适的平台，目前呢，有三种平台可以供大家选择，分别是实验箱、开发板和卡片式电脑，实验箱是大家正在用的，评价？开发板就是常见的友善之臂的，。。。第三是最近比较火的卡片式电脑，几天跟大家讲的树莓派就是一个卡片式电脑。下面跟详细介绍一下卡片式电脑。我的报告中详细的写了这三种实验平台的区别，给大几简单看一下。</a:t>
            </a:r>
          </a:p>
        </p:txBody>
      </p:sp>
      <p:sp>
        <p:nvSpPr>
          <p:cNvPr id="922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0D533ED0-635E-4043-B6FC-F313B75A23BA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202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卡片式电脑就是只有一张信用卡大小的卡片式计算机，这是最近比较火的，相比实验箱和开发板而言，卡片式电脑有许多优点，首先是资源丰富，体积小，功耗低、价格低、学习资料丰富，几款比较流行的卡片式电脑分别是树莓派、香蕉派、</a:t>
            </a:r>
            <a:r>
              <a:rPr lang="en-US">
                <a:ea typeface="宋体" panose="02010600030101010101" pitchFamily="2" charset="-122"/>
              </a:rPr>
              <a:t>CubieBoard</a:t>
            </a:r>
            <a:r>
              <a:rPr lang="zh-CN" altLang="en-US"/>
              <a:t>和</a:t>
            </a:r>
            <a:r>
              <a:rPr lang="en-US">
                <a:ea typeface="宋体" panose="02010600030101010101" pitchFamily="2" charset="-122"/>
              </a:rPr>
              <a:t>pcDuino</a:t>
            </a:r>
            <a:r>
              <a:rPr lang="zh-CN" altLang="en-US"/>
              <a:t>等，上面列出了他们的官网，大家可以登录官网查看他们的信息，官网都是英文的，遇到英文不要害怕，大家要学会试着看英文的资料。下面给大家看几张图片，对这几款卡片式电脑有个初步的认识。</a:t>
            </a:r>
          </a:p>
        </p:txBody>
      </p:sp>
      <p:sp>
        <p:nvSpPr>
          <p:cNvPr id="11268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501FE092-E25D-4F8B-B483-0071364446E6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4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3217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首先是树莓派，大家简单看一下，后面会详细介绍。</a:t>
            </a:r>
          </a:p>
        </p:txBody>
      </p:sp>
      <p:sp>
        <p:nvSpPr>
          <p:cNvPr id="13316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22F3D535-589C-43B0-ABD7-3F135BBF3C82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5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9125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这个是香蕉派，</a:t>
            </a:r>
            <a:r>
              <a:rPr lang="en-US">
                <a:ea typeface="宋体" panose="02010600030101010101" pitchFamily="2" charset="-122"/>
              </a:rPr>
              <a:t>Banana Pi</a:t>
            </a:r>
            <a:r>
              <a:rPr lang="zh-CN" altLang="en-US"/>
              <a:t>，基于</a:t>
            </a:r>
            <a:r>
              <a:rPr lang="en-US">
                <a:ea typeface="宋体" panose="02010600030101010101" pitchFamily="2" charset="-122"/>
              </a:rPr>
              <a:t>ARM</a:t>
            </a:r>
            <a:r>
              <a:rPr lang="zh-CN" altLang="en-US"/>
              <a:t>架构，双核，内存</a:t>
            </a:r>
            <a:r>
              <a:rPr lang="en-US">
                <a:ea typeface="宋体" panose="02010600030101010101" pitchFamily="2" charset="-122"/>
              </a:rPr>
              <a:t>1GHz</a:t>
            </a:r>
            <a:r>
              <a:rPr lang="zh-CN" altLang="en-US"/>
              <a:t>，各种外围接口，可以作为媒体播放器，智能路由交换器，中继器，工控机，机顶盒，网络播放器，开发板，个人娱乐学习编程软件等。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1536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BE168B43-3FEE-4E85-B3A3-E42E41AE6A73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6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9627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上面这个是</a:t>
            </a:r>
            <a:r>
              <a:rPr lang="en-US">
                <a:ea typeface="宋体" panose="02010600030101010101" pitchFamily="2" charset="-122"/>
              </a:rPr>
              <a:t>CubieBoard</a:t>
            </a:r>
            <a:r>
              <a:rPr lang="zh-CN" altLang="en-US"/>
              <a:t>，</a:t>
            </a:r>
            <a:r>
              <a:rPr lang="en-US">
                <a:ea typeface="宋体" panose="02010600030101010101" pitchFamily="2" charset="-122"/>
              </a:rPr>
              <a:t>CubieBoard</a:t>
            </a:r>
            <a:r>
              <a:rPr lang="zh-CN" altLang="en-US"/>
              <a:t>是一个由珠海的 </a:t>
            </a:r>
            <a:r>
              <a:rPr lang="en-US">
                <a:ea typeface="宋体" panose="02010600030101010101" pitchFamily="2" charset="-122"/>
              </a:rPr>
              <a:t>Cubietech </a:t>
            </a:r>
            <a:r>
              <a:rPr lang="zh-CN" altLang="en-US"/>
              <a:t>团队推出的。</a:t>
            </a:r>
          </a:p>
        </p:txBody>
      </p:sp>
      <p:sp>
        <p:nvSpPr>
          <p:cNvPr id="1741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F03F3217-EB17-4A38-B7E2-39AEAB8682E3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7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4236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接下来这个是</a:t>
            </a:r>
            <a:r>
              <a:rPr lang="en-US">
                <a:ea typeface="宋体" panose="02010600030101010101" pitchFamily="2" charset="-122"/>
              </a:rPr>
              <a:t>pcDuino</a:t>
            </a:r>
            <a:r>
              <a:rPr lang="zh-CN" altLang="en-US"/>
              <a:t>，也是一款卡片式电脑，处理器采用 </a:t>
            </a:r>
            <a:r>
              <a:rPr lang="en-US">
                <a:ea typeface="宋体" panose="02010600030101010101" pitchFamily="2" charset="-122"/>
              </a:rPr>
              <a:t>ARM Cortex-A8</a:t>
            </a:r>
            <a:r>
              <a:rPr lang="zh-CN" altLang="en-US"/>
              <a:t>内核、 主频为 </a:t>
            </a:r>
            <a:r>
              <a:rPr lang="en-US">
                <a:ea typeface="宋体" panose="02010600030101010101" pitchFamily="2" charset="-122"/>
              </a:rPr>
              <a:t>1GHz</a:t>
            </a:r>
            <a:r>
              <a:rPr lang="zh-CN" altLang="en-US"/>
              <a:t>、 内存为 </a:t>
            </a:r>
            <a:r>
              <a:rPr lang="en-US">
                <a:ea typeface="宋体" panose="02010600030101010101" pitchFamily="2" charset="-122"/>
              </a:rPr>
              <a:t>1GB</a:t>
            </a:r>
            <a:r>
              <a:rPr lang="zh-CN" altLang="en-US"/>
              <a:t>、 板载存储达到 </a:t>
            </a:r>
            <a:r>
              <a:rPr lang="en-US">
                <a:ea typeface="宋体" panose="02010600030101010101" pitchFamily="2" charset="-122"/>
              </a:rPr>
              <a:t>2GB Flash</a:t>
            </a:r>
            <a:r>
              <a:rPr lang="zh-CN" altLang="en-US"/>
              <a:t>、完全兼容 </a:t>
            </a:r>
            <a:r>
              <a:rPr lang="en-US">
                <a:ea typeface="宋体" panose="02010600030101010101" pitchFamily="2" charset="-122"/>
              </a:rPr>
              <a:t>Arduino </a:t>
            </a:r>
            <a:r>
              <a:rPr lang="zh-CN" altLang="en-US"/>
              <a:t>接口，其上可运行 </a:t>
            </a:r>
            <a:r>
              <a:rPr lang="en-US">
                <a:ea typeface="宋体" panose="02010600030101010101" pitchFamily="2" charset="-122"/>
              </a:rPr>
              <a:t>Android</a:t>
            </a:r>
            <a:r>
              <a:rPr lang="zh-CN" altLang="en-US"/>
              <a:t>、 </a:t>
            </a:r>
            <a:r>
              <a:rPr lang="en-US">
                <a:ea typeface="宋体" panose="02010600030101010101" pitchFamily="2" charset="-122"/>
              </a:rPr>
              <a:t>Ubuntu </a:t>
            </a:r>
            <a:r>
              <a:rPr lang="zh-CN" altLang="en-US"/>
              <a:t>等操作系统。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1946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EFCE24AA-FEB8-4D29-B8B3-98502BE0979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8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1824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 </a:t>
            </a:r>
            <a:r>
              <a:rPr lang="zh-CN" altLang="en-US"/>
              <a:t>与其他的卡片式电脑相比呢，树莓派有很多优势，最重要的一点是学习资源非常丰富，你到百度下搜树莓派，上面有各种教程和实例。下面详细的给大家介绍一下树莓派，</a:t>
            </a:r>
            <a:r>
              <a:rPr lang="en-US">
                <a:ea typeface="宋体" panose="02010600030101010101" pitchFamily="2" charset="-122"/>
              </a:rPr>
              <a:t>【</a:t>
            </a:r>
            <a:r>
              <a:rPr lang="zh-CN" altLang="en-US"/>
              <a:t>念上面那段文字</a:t>
            </a:r>
            <a:r>
              <a:rPr lang="en-US">
                <a:ea typeface="宋体" panose="02010600030101010101" pitchFamily="2" charset="-122"/>
              </a:rPr>
              <a:t>】</a:t>
            </a:r>
            <a:r>
              <a:rPr lang="zh-CN" altLang="en-US"/>
              <a:t>，这是它的</a:t>
            </a:r>
            <a:r>
              <a:rPr lang="en-US">
                <a:ea typeface="宋体" panose="02010600030101010101" pitchFamily="2" charset="-122"/>
              </a:rPr>
              <a:t>logo</a:t>
            </a:r>
            <a:r>
              <a:rPr lang="zh-CN" altLang="en-US"/>
              <a:t>，刚才已经看过了。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21508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D1CFDA3D-C2D4-4D45-B2FF-446A9B325688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9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0404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下面我们来分析一下树莓派这个东西，在这里，我写了一个树莓派开发系统，所谓的树莓派开发系统，就是一个嵌入式开发平台，说系统显得高大上一点，大家看这个图，树莓派开发系统分硬件模块和软件模块，硬件模块就是树莓派开发板和外围模块，比如连接线、</a:t>
            </a:r>
            <a:r>
              <a:rPr lang="en-US">
                <a:ea typeface="宋体" panose="02010600030101010101" pitchFamily="2" charset="-122"/>
              </a:rPr>
              <a:t>GPIO</a:t>
            </a:r>
            <a:r>
              <a:rPr lang="zh-CN" altLang="en-US"/>
              <a:t>扩展板等，软件模块主要包括运行在树莓派之上的操作系统和应用程序，操作系统是某种</a:t>
            </a:r>
            <a:r>
              <a:rPr lang="en-US">
                <a:ea typeface="宋体" panose="02010600030101010101" pitchFamily="2" charset="-122"/>
              </a:rPr>
              <a:t>linux</a:t>
            </a:r>
            <a:r>
              <a:rPr lang="zh-CN" altLang="en-US"/>
              <a:t>，树莓派官方推荐的操作系统是</a:t>
            </a:r>
            <a:r>
              <a:rPr lang="en-US">
                <a:ea typeface="宋体" panose="02010600030101010101" pitchFamily="2" charset="-122"/>
              </a:rPr>
              <a:t>Raspbian</a:t>
            </a:r>
            <a:r>
              <a:rPr lang="zh-CN" altLang="en-US"/>
              <a:t>。下面，我们来详细看一下树莓派开发系统上的软硬件资源。</a:t>
            </a:r>
          </a:p>
        </p:txBody>
      </p:sp>
      <p:sp>
        <p:nvSpPr>
          <p:cNvPr id="23556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3076D8B3-2C71-4433-AAA4-9133762C1490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10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1558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到目前为止，树莓派主要有</a:t>
            </a:r>
            <a:r>
              <a:rPr lang="en-US">
                <a:ea typeface="宋体" panose="02010600030101010101" pitchFamily="2" charset="-122"/>
              </a:rPr>
              <a:t>4</a:t>
            </a:r>
            <a:r>
              <a:rPr lang="zh-CN" altLang="en-US"/>
              <a:t>个版本、</a:t>
            </a:r>
            <a:r>
              <a:rPr lang="en-US">
                <a:ea typeface="宋体" panose="02010600030101010101" pitchFamily="2" charset="-122"/>
              </a:rPr>
              <a:t>A</a:t>
            </a:r>
            <a:r>
              <a:rPr lang="zh-CN" altLang="en-US"/>
              <a:t>、</a:t>
            </a:r>
            <a:r>
              <a:rPr lang="en-US">
                <a:ea typeface="宋体" panose="02010600030101010101" pitchFamily="2" charset="-122"/>
              </a:rPr>
              <a:t>A+</a:t>
            </a:r>
            <a:r>
              <a:rPr lang="zh-CN" altLang="en-US"/>
              <a:t>、</a:t>
            </a:r>
            <a:r>
              <a:rPr lang="en-US">
                <a:ea typeface="宋体" panose="02010600030101010101" pitchFamily="2" charset="-122"/>
              </a:rPr>
              <a:t>B</a:t>
            </a:r>
            <a:r>
              <a:rPr lang="zh-CN" altLang="en-US"/>
              <a:t>、</a:t>
            </a:r>
            <a:r>
              <a:rPr lang="en-US">
                <a:ea typeface="宋体" panose="02010600030101010101" pitchFamily="2" charset="-122"/>
              </a:rPr>
              <a:t>B+</a:t>
            </a:r>
            <a:r>
              <a:rPr lang="zh-CN" altLang="en-US"/>
              <a:t>，其中，</a:t>
            </a:r>
            <a:r>
              <a:rPr lang="en-US">
                <a:ea typeface="宋体" panose="02010600030101010101" pitchFamily="2" charset="-122"/>
              </a:rPr>
              <a:t>B</a:t>
            </a:r>
            <a:r>
              <a:rPr lang="zh-CN" altLang="en-US"/>
              <a:t>型和</a:t>
            </a:r>
            <a:r>
              <a:rPr lang="en-US">
                <a:ea typeface="宋体" panose="02010600030101010101" pitchFamily="2" charset="-122"/>
              </a:rPr>
              <a:t>B+</a:t>
            </a:r>
            <a:r>
              <a:rPr lang="zh-CN" altLang="en-US"/>
              <a:t>型是使用的最广泛的的，</a:t>
            </a:r>
            <a:r>
              <a:rPr lang="en-US">
                <a:ea typeface="宋体" panose="02010600030101010101" pitchFamily="2" charset="-122"/>
              </a:rPr>
              <a:t>B</a:t>
            </a:r>
            <a:r>
              <a:rPr lang="zh-CN" altLang="en-US"/>
              <a:t>型树莓派是</a:t>
            </a:r>
            <a:r>
              <a:rPr lang="en-US">
                <a:ea typeface="宋体" panose="02010600030101010101" pitchFamily="2" charset="-122"/>
              </a:rPr>
              <a:t>2012</a:t>
            </a:r>
            <a:r>
              <a:rPr lang="zh-CN" altLang="en-US"/>
              <a:t>年发布的，</a:t>
            </a:r>
            <a:r>
              <a:rPr lang="en-US">
                <a:ea typeface="宋体" panose="02010600030101010101" pitchFamily="2" charset="-122"/>
              </a:rPr>
              <a:t>B+</a:t>
            </a:r>
            <a:r>
              <a:rPr lang="zh-CN" altLang="en-US"/>
              <a:t>型树莓派是今年发布的，上面这个图主要对</a:t>
            </a:r>
            <a:r>
              <a:rPr lang="en-US">
                <a:ea typeface="宋体" panose="02010600030101010101" pitchFamily="2" charset="-122"/>
              </a:rPr>
              <a:t>B</a:t>
            </a:r>
            <a:r>
              <a:rPr lang="zh-CN" altLang="en-US"/>
              <a:t>型树莓派和</a:t>
            </a:r>
            <a:r>
              <a:rPr lang="en-US">
                <a:ea typeface="宋体" panose="02010600030101010101" pitchFamily="2" charset="-122"/>
              </a:rPr>
              <a:t>B+</a:t>
            </a:r>
            <a:r>
              <a:rPr lang="zh-CN" altLang="en-US"/>
              <a:t>型树莓派进行了对比，大家可以简单看一下，首先</a:t>
            </a:r>
            <a:r>
              <a:rPr lang="en-US">
                <a:ea typeface="宋体" panose="02010600030101010101" pitchFamily="2" charset="-122"/>
              </a:rPr>
              <a:t>GPIO</a:t>
            </a:r>
            <a:r>
              <a:rPr lang="zh-CN" altLang="en-US"/>
              <a:t>口有</a:t>
            </a:r>
            <a:r>
              <a:rPr lang="en-US">
                <a:ea typeface="宋体" panose="02010600030101010101" pitchFamily="2" charset="-122"/>
              </a:rPr>
              <a:t>26</a:t>
            </a:r>
            <a:r>
              <a:rPr lang="zh-CN" altLang="en-US"/>
              <a:t>个扩展到</a:t>
            </a:r>
            <a:r>
              <a:rPr lang="en-US">
                <a:ea typeface="宋体" panose="02010600030101010101" pitchFamily="2" charset="-122"/>
              </a:rPr>
              <a:t>40</a:t>
            </a:r>
            <a:r>
              <a:rPr lang="zh-CN" altLang="en-US"/>
              <a:t>个，</a:t>
            </a:r>
            <a:r>
              <a:rPr lang="en-US">
                <a:ea typeface="宋体" panose="02010600030101010101" pitchFamily="2" charset="-122"/>
              </a:rPr>
              <a:t>USB</a:t>
            </a:r>
            <a:r>
              <a:rPr lang="zh-CN" altLang="en-US"/>
              <a:t>口有</a:t>
            </a:r>
            <a:r>
              <a:rPr lang="en-US">
                <a:ea typeface="宋体" panose="02010600030101010101" pitchFamily="2" charset="-122"/>
              </a:rPr>
              <a:t>2</a:t>
            </a:r>
            <a:r>
              <a:rPr lang="zh-CN" altLang="en-US"/>
              <a:t>个变成四个，</a:t>
            </a:r>
            <a:r>
              <a:rPr lang="en-US">
                <a:ea typeface="宋体" panose="02010600030101010101" pitchFamily="2" charset="-122"/>
              </a:rPr>
              <a:t>SD</a:t>
            </a:r>
            <a:r>
              <a:rPr lang="zh-CN" altLang="en-US"/>
              <a:t>卡由大卡换成了小卡，音频视频口由两个合并成了一个，板子布局进行了优化，等等。下面详细介绍一下树莓派的硬件资源。</a:t>
            </a:r>
          </a:p>
        </p:txBody>
      </p:sp>
      <p:sp>
        <p:nvSpPr>
          <p:cNvPr id="2560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58E22A87-8BD3-42EE-9D11-A10882EDBD0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11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5722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首先是处理器，然后是</a:t>
            </a:r>
            <a:r>
              <a:rPr lang="en-US">
                <a:ea typeface="宋体" panose="02010600030101010101" pitchFamily="2" charset="-122"/>
              </a:rPr>
              <a:t>GPU</a:t>
            </a:r>
            <a:r>
              <a:rPr lang="zh-CN" altLang="en-US"/>
              <a:t>，然后是内存，然后各种外围接口，首先是小型</a:t>
            </a:r>
            <a:r>
              <a:rPr lang="en-US">
                <a:ea typeface="宋体" panose="02010600030101010101" pitchFamily="2" charset="-122"/>
              </a:rPr>
              <a:t>SD</a:t>
            </a:r>
            <a:r>
              <a:rPr lang="zh-CN" altLang="en-US"/>
              <a:t>卡槽，插一个</a:t>
            </a:r>
            <a:r>
              <a:rPr lang="en-US">
                <a:ea typeface="宋体" panose="02010600030101010101" pitchFamily="2" charset="-122"/>
              </a:rPr>
              <a:t>SD</a:t>
            </a:r>
            <a:r>
              <a:rPr lang="zh-CN" altLang="en-US"/>
              <a:t>卡，在开发之前，将系统烧写到上面，就可以运行了，相当于台式机的硬盘，然后是以太网口，连接有线网络，大家可以通过下面的图看一下。</a:t>
            </a:r>
          </a:p>
        </p:txBody>
      </p:sp>
      <p:sp>
        <p:nvSpPr>
          <p:cNvPr id="2765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872DD990-14F8-4BA9-AC10-85A2DD66CD31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12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7824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然后是</a:t>
            </a:r>
            <a:r>
              <a:rPr lang="en-US">
                <a:ea typeface="宋体" panose="02010600030101010101" pitchFamily="2" charset="-122"/>
              </a:rPr>
              <a:t>HDMI</a:t>
            </a:r>
            <a:r>
              <a:rPr lang="zh-CN" altLang="en-US"/>
              <a:t>转接口，通过</a:t>
            </a:r>
            <a:r>
              <a:rPr lang="en-US">
                <a:ea typeface="宋体" panose="02010600030101010101" pitchFamily="2" charset="-122"/>
              </a:rPr>
              <a:t>HDMI</a:t>
            </a:r>
            <a:r>
              <a:rPr lang="zh-CN" altLang="en-US"/>
              <a:t>转</a:t>
            </a:r>
            <a:r>
              <a:rPr lang="en-US">
                <a:ea typeface="宋体" panose="02010600030101010101" pitchFamily="2" charset="-122"/>
              </a:rPr>
              <a:t>VGA</a:t>
            </a:r>
            <a:r>
              <a:rPr lang="zh-CN" altLang="en-US"/>
              <a:t>线接显示器，就可以将</a:t>
            </a:r>
            <a:r>
              <a:rPr lang="en-US">
                <a:ea typeface="宋体" panose="02010600030101010101" pitchFamily="2" charset="-122"/>
              </a:rPr>
              <a:t>Raspbian</a:t>
            </a:r>
            <a:r>
              <a:rPr lang="zh-CN" altLang="en-US"/>
              <a:t>系统显示出来，然后是</a:t>
            </a:r>
            <a:r>
              <a:rPr lang="en-US">
                <a:ea typeface="宋体" panose="02010600030101010101" pitchFamily="2" charset="-122"/>
              </a:rPr>
              <a:t>USB</a:t>
            </a:r>
            <a:r>
              <a:rPr lang="zh-CN" altLang="en-US"/>
              <a:t>口，通过</a:t>
            </a:r>
            <a:r>
              <a:rPr lang="en-US">
                <a:ea typeface="宋体" panose="02010600030101010101" pitchFamily="2" charset="-122"/>
              </a:rPr>
              <a:t>USB</a:t>
            </a:r>
            <a:r>
              <a:rPr lang="zh-CN" altLang="en-US"/>
              <a:t>口可以接键盘、鼠标、</a:t>
            </a:r>
            <a:r>
              <a:rPr lang="en-US">
                <a:ea typeface="宋体" panose="02010600030101010101" pitchFamily="2" charset="-122"/>
              </a:rPr>
              <a:t>USB</a:t>
            </a:r>
            <a:r>
              <a:rPr lang="zh-CN" altLang="en-US"/>
              <a:t>无线网卡、</a:t>
            </a:r>
            <a:r>
              <a:rPr lang="en-US">
                <a:ea typeface="宋体" panose="02010600030101010101" pitchFamily="2" charset="-122"/>
              </a:rPr>
              <a:t>USB</a:t>
            </a:r>
            <a:r>
              <a:rPr lang="zh-CN" altLang="en-US"/>
              <a:t>摄像头等</a:t>
            </a:r>
            <a:r>
              <a:rPr lang="en-US">
                <a:ea typeface="宋体" panose="02010600030101010101" pitchFamily="2" charset="-122"/>
              </a:rPr>
              <a:t>USB</a:t>
            </a:r>
            <a:r>
              <a:rPr lang="zh-CN" altLang="en-US"/>
              <a:t>接口的外围模块，然后是电源接口，接</a:t>
            </a:r>
            <a:r>
              <a:rPr lang="en-US">
                <a:ea typeface="宋体" panose="02010600030101010101" pitchFamily="2" charset="-122"/>
              </a:rPr>
              <a:t>5V 2A</a:t>
            </a:r>
            <a:r>
              <a:rPr lang="zh-CN" altLang="en-US"/>
              <a:t>的电源适配器，给整个板子供电，然后是音视频输出接口，可以接耳机、接电视、然后是</a:t>
            </a:r>
            <a:r>
              <a:rPr lang="en-US">
                <a:ea typeface="宋体" panose="02010600030101010101" pitchFamily="2" charset="-122"/>
              </a:rPr>
              <a:t>GPIO</a:t>
            </a:r>
            <a:r>
              <a:rPr lang="zh-CN" altLang="en-US"/>
              <a:t>口，</a:t>
            </a:r>
            <a:r>
              <a:rPr lang="en-US">
                <a:ea typeface="宋体" panose="02010600030101010101" pitchFamily="2" charset="-122"/>
              </a:rPr>
              <a:t>40Pin</a:t>
            </a:r>
            <a:r>
              <a:rPr lang="zh-CN" altLang="en-US"/>
              <a:t>，有普通的</a:t>
            </a:r>
            <a:r>
              <a:rPr lang="en-US">
                <a:ea typeface="宋体" panose="02010600030101010101" pitchFamily="2" charset="-122"/>
              </a:rPr>
              <a:t>GPIO</a:t>
            </a:r>
            <a:r>
              <a:rPr lang="zh-CN" altLang="en-US"/>
              <a:t>口，也有一些专用的，比如</a:t>
            </a:r>
            <a:r>
              <a:rPr lang="en-US">
                <a:ea typeface="宋体" panose="02010600030101010101" pitchFamily="2" charset="-122"/>
              </a:rPr>
              <a:t>UART</a:t>
            </a:r>
            <a:r>
              <a:rPr lang="zh-CN" altLang="en-US"/>
              <a:t>、</a:t>
            </a:r>
            <a:r>
              <a:rPr lang="en-US">
                <a:ea typeface="宋体" panose="02010600030101010101" pitchFamily="2" charset="-122"/>
              </a:rPr>
              <a:t>IIC</a:t>
            </a:r>
            <a:r>
              <a:rPr lang="zh-CN" altLang="en-US"/>
              <a:t>总线和</a:t>
            </a:r>
            <a:r>
              <a:rPr lang="en-US">
                <a:ea typeface="宋体" panose="02010600030101010101" pitchFamily="2" charset="-122"/>
              </a:rPr>
              <a:t>SPI</a:t>
            </a:r>
            <a:r>
              <a:rPr lang="zh-CN" altLang="en-US"/>
              <a:t>总线，摄像头接口，接树莓派专用摄像头，视频输出接口，接小型的</a:t>
            </a:r>
            <a:r>
              <a:rPr lang="en-US">
                <a:ea typeface="宋体" panose="02010600030101010101" pitchFamily="2" charset="-122"/>
              </a:rPr>
              <a:t>LCD</a:t>
            </a:r>
            <a:r>
              <a:rPr lang="zh-CN" altLang="en-US"/>
              <a:t>显示屏。尺寸是。。。。。。</a:t>
            </a:r>
          </a:p>
        </p:txBody>
      </p:sp>
      <p:sp>
        <p:nvSpPr>
          <p:cNvPr id="297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14819EFF-6098-4737-A946-6CC712E9D62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13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6705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看图说资源</a:t>
            </a:r>
          </a:p>
        </p:txBody>
      </p:sp>
      <p:sp>
        <p:nvSpPr>
          <p:cNvPr id="31748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814C04BE-15D5-47D9-B300-413F08F8E6C5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14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5013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接下来介绍一下树莓派开发系统的软件模块，软件模块指的是在树莓派之上运行的操作系统和应用程序，树莓派上运行的操作系统是</a:t>
            </a:r>
            <a:r>
              <a:rPr lang="en-US">
                <a:ea typeface="宋体" panose="02010600030101010101" pitchFamily="2" charset="-122"/>
              </a:rPr>
              <a:t>linux</a:t>
            </a:r>
            <a:r>
              <a:rPr lang="zh-CN" altLang="en-US"/>
              <a:t>，一些</a:t>
            </a:r>
            <a:r>
              <a:rPr lang="en-US">
                <a:ea typeface="宋体" panose="02010600030101010101" pitchFamily="2" charset="-122"/>
              </a:rPr>
              <a:t>linux</a:t>
            </a:r>
            <a:r>
              <a:rPr lang="zh-CN" altLang="en-US"/>
              <a:t>的发行版基本都可以在上面运行，但是做应用开发的话，推荐大家使用树莓派官方推荐的</a:t>
            </a:r>
            <a:r>
              <a:rPr lang="en-US">
                <a:ea typeface="宋体" panose="02010600030101010101" pitchFamily="2" charset="-122"/>
              </a:rPr>
              <a:t>Raspbian</a:t>
            </a:r>
            <a:r>
              <a:rPr lang="zh-CN" altLang="en-US"/>
              <a:t>操作系统，该系统是基于</a:t>
            </a:r>
            <a:r>
              <a:rPr lang="en-US">
                <a:ea typeface="宋体" panose="02010600030101010101" pitchFamily="2" charset="-122"/>
              </a:rPr>
              <a:t>Debian Linux</a:t>
            </a:r>
            <a:r>
              <a:rPr lang="zh-CN" altLang="en-US"/>
              <a:t>的针对树莓派硬件专门优化过的操作系统，</a:t>
            </a:r>
            <a:r>
              <a:rPr lang="en-US">
                <a:ea typeface="宋体" panose="02010600030101010101" pitchFamily="2" charset="-122"/>
              </a:rPr>
              <a:t>Linux</a:t>
            </a:r>
            <a:r>
              <a:rPr lang="zh-CN" altLang="en-US"/>
              <a:t>上的系统资源非常丰富，应用程序也比较多，对于</a:t>
            </a:r>
            <a:r>
              <a:rPr lang="en-US">
                <a:ea typeface="宋体" panose="02010600030101010101" pitchFamily="2" charset="-122"/>
              </a:rPr>
              <a:t>Linux</a:t>
            </a:r>
            <a:r>
              <a:rPr lang="zh-CN" altLang="en-US"/>
              <a:t>的操作详细大家应该很熟悉了。这个网址给出了树莓派的一个简单的介绍。</a:t>
            </a:r>
          </a:p>
        </p:txBody>
      </p:sp>
      <p:sp>
        <p:nvSpPr>
          <p:cNvPr id="33796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8623524D-9675-42C1-996E-E4A5C2EB444E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15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9310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介绍完了树莓派是什么，下面跟大家介绍一下树莓派开发系统可以用来做什么，可以进行哪些应用开发，在这里给大家推荐一个比较好的网站，叫树莓派实验室，上面是网址，这里列举了树莓派的一下应用，更加详细的内容大家可以自己到网上去看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3584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ED97F001-866F-43E4-8470-99CF6D7C0E29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16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2725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介绍完了树莓派是什么，下面跟大家介绍一下树莓派开发系统可以用来做什么，可以进行哪些应用开发，在这里给大家推荐一个比较好的网站，叫树莓派实验室，上面是网址，这里列举了树莓派的一下应用，更加详细的内容大家可以自己到网上去看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3789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988123D3-930E-452A-9A91-229BDAC9500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17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2749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介绍完了树莓派是什么，下面跟大家介绍一下树莓派开发系统可以用来做什么，可以进行哪些应用开发，在这里给大家推荐一个比较好的网站，叫树莓派实验室，上面是网址，这里列举了树莓派的一下应用，更加详细的内容大家可以自己到网上去看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3994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4755880F-CB99-4AF6-94A4-C96B9E08BD4E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18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3713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这里给大家截了一张树莓派实验室网站的图，大家看，第一个应用就是用虚拟机模拟使用树莓派，网站会不定期更新。</a:t>
            </a:r>
          </a:p>
        </p:txBody>
      </p:sp>
      <p:sp>
        <p:nvSpPr>
          <p:cNvPr id="41988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2922986D-E4C3-4ED3-B66A-A5043E009F95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19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6812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下面给大家介绍另外一个网站，叫极客范，这个网站上有很多很多关于嵌入式方面的应用，其中有个树莓派的版块，上面有许多关于树莓派的应用，这里列举了几个，其中将树莓派打造成无线路由器就是我参考着上面的教程做的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44036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9890543F-E1E6-4674-8754-C71EF83B4E9C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20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770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这是网站的一个截图，给大家看一下</a:t>
            </a:r>
          </a:p>
        </p:txBody>
      </p:sp>
      <p:sp>
        <p:nvSpPr>
          <p:cNvPr id="4608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CDCA5245-5EFE-442B-BA1E-10965FC8B11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21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7533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下面给大家介绍另外一个网站，叫极客范，这个网站上有很多很多关于嵌入式方面的应用，其中有个树莓派的版块，上面有许多关于树莓派的应用，这里列举了几个，其中将树莓派打造成无线路由器就是我参考着上面的教程做的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4813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8840B4C6-9E47-4103-A5D4-956D6C582106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22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7341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下面给大家介绍另外一个网站，叫极客范，这个网站上有很多很多关于嵌入式方面的应用，其中有个树莓派的版块，上面有许多关于树莓派的应用，这里列举了几个，其中将树莓派打造成无线路由器就是我参考着上面的教程做的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5018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9A786392-3312-4AFC-874A-ED47F0787208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23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6249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下面给大家介绍另外一个网站，叫极客范，这个网站上有很多很多关于嵌入式方面的应用，其中有个树莓派的版块，上面有许多关于树莓派的应用，这里列举了几个，其中将树莓派打造成无线路由器就是我参考着上面的教程做的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52228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901323F8-1B6D-4D2C-8896-2112811303C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24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0131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下面给大家介绍另外一个网站，叫极客范，这个网站上有很多很多关于嵌入式方面的应用，其中有个树莓派的版块，上面有许多关于树莓派的应用，这里列举了几个，其中将树莓派打造成无线路由器就是我参考着上面的教程做的。</a:t>
            </a:r>
            <a:endParaRPr lang="en-US">
              <a:ea typeface="宋体" panose="02010600030101010101" pitchFamily="2" charset="-122"/>
            </a:endParaRPr>
          </a:p>
        </p:txBody>
      </p:sp>
      <p:sp>
        <p:nvSpPr>
          <p:cNvPr id="54276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3734E0AE-B2F5-4A6A-8A8D-FBDA1076F905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25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6137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下面给大家讲讲如何玩转树莓派，在应用开发之前进行哪些操作，主要分三个方面，首先是开发环境的搭建，我们先把环境搭建起来，然后是树莓派与外界的交互，接下来树莓派应用开发。</a:t>
            </a:r>
          </a:p>
        </p:txBody>
      </p:sp>
      <p:sp>
        <p:nvSpPr>
          <p:cNvPr id="5632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90F4629E-3BA8-4E9F-95BB-BD6C9537BA2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26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1606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下面给大家详细介绍一下树莓派开发系统的环境大家，主要包括三个方面，硬件环境搭建、软件环境搭建和网络环境搭建，下面分别介绍。</a:t>
            </a:r>
          </a:p>
        </p:txBody>
      </p:sp>
      <p:sp>
        <p:nvSpPr>
          <p:cNvPr id="5837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BF0F42C5-74E3-4F7E-AF05-01AB6E516860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27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2546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首先是硬件环境，搭建硬件环境主要包括实验材料的准备、购买与组装，买这些电子器件可以在强大的某宝上买到，下面这个图是组装好的。淘宝上就可以买到</a:t>
            </a:r>
          </a:p>
        </p:txBody>
      </p:sp>
      <p:sp>
        <p:nvSpPr>
          <p:cNvPr id="6042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196AA098-4BDB-48C2-A6CC-A2A74F838043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28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6005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软件环境主要是</a:t>
            </a:r>
            <a:r>
              <a:rPr lang="en-US">
                <a:ea typeface="宋体" panose="02010600030101010101" pitchFamily="2" charset="-122"/>
              </a:rPr>
              <a:t>Raspbian</a:t>
            </a:r>
            <a:r>
              <a:rPr lang="zh-CN" altLang="en-US"/>
              <a:t>系统的下载与烧写和初次启动配置，首先将</a:t>
            </a:r>
            <a:r>
              <a:rPr lang="en-US">
                <a:ea typeface="宋体" panose="02010600030101010101" pitchFamily="2" charset="-122"/>
              </a:rPr>
              <a:t>Raspbian</a:t>
            </a:r>
            <a:r>
              <a:rPr lang="zh-CN" altLang="en-US"/>
              <a:t>从官网上下载下来，然后烧写到</a:t>
            </a:r>
            <a:r>
              <a:rPr lang="en-US">
                <a:ea typeface="宋体" panose="02010600030101010101" pitchFamily="2" charset="-122"/>
              </a:rPr>
              <a:t>SD</a:t>
            </a:r>
            <a:r>
              <a:rPr lang="zh-CN" altLang="en-US"/>
              <a:t>卡里面，将</a:t>
            </a:r>
            <a:r>
              <a:rPr lang="en-US">
                <a:ea typeface="宋体" panose="02010600030101010101" pitchFamily="2" charset="-122"/>
              </a:rPr>
              <a:t>SD</a:t>
            </a:r>
            <a:r>
              <a:rPr lang="zh-CN" altLang="en-US"/>
              <a:t>卡插到树莓派上，启动树莓派，进行初次启动配置，配置工具是。。。，配置的时候，大部分都是选择默认，但键盘布局需要设置一下。配置好后，就可以进入系统，进行操作了。在</a:t>
            </a:r>
            <a:r>
              <a:rPr lang="en-US">
                <a:ea typeface="宋体" panose="02010600030101010101" pitchFamily="2" charset="-122"/>
              </a:rPr>
              <a:t>Linux</a:t>
            </a:r>
            <a:r>
              <a:rPr lang="zh-CN" altLang="en-US"/>
              <a:t>系统上，可以进行</a:t>
            </a:r>
            <a:r>
              <a:rPr lang="en-US">
                <a:ea typeface="宋体" panose="02010600030101010101" pitchFamily="2" charset="-122"/>
              </a:rPr>
              <a:t>Python</a:t>
            </a:r>
            <a:r>
              <a:rPr lang="zh-CN" altLang="en-US"/>
              <a:t>编程。</a:t>
            </a:r>
          </a:p>
        </p:txBody>
      </p:sp>
      <p:sp>
        <p:nvSpPr>
          <p:cNvPr id="62468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A839C347-8BA8-483B-A4A3-2DE65093976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29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603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网络环境搭建，首先要掌握</a:t>
            </a:r>
            <a:r>
              <a:rPr lang="en-US">
                <a:ea typeface="宋体" panose="02010600030101010101" pitchFamily="2" charset="-122"/>
              </a:rPr>
              <a:t>linux</a:t>
            </a:r>
            <a:r>
              <a:rPr lang="zh-CN" altLang="en-US"/>
              <a:t>下常见的网络操作命令，比如</a:t>
            </a:r>
            <a:r>
              <a:rPr lang="en-US">
                <a:ea typeface="宋体" panose="02010600030101010101" pitchFamily="2" charset="-122"/>
              </a:rPr>
              <a:t>ifconfig</a:t>
            </a:r>
            <a:r>
              <a:rPr lang="zh-CN" altLang="en-US"/>
              <a:t>等，然后，网络搭建包括有线网络和无线网络，有线网络首先是需要一根网线，然后在根据局域网的具体情况进行设置，无线网络需要一个</a:t>
            </a:r>
            <a:r>
              <a:rPr lang="en-US">
                <a:ea typeface="宋体" panose="02010600030101010101" pitchFamily="2" charset="-122"/>
              </a:rPr>
              <a:t>USB</a:t>
            </a:r>
            <a:r>
              <a:rPr lang="zh-CN" altLang="en-US"/>
              <a:t>无线网卡，为了省事，大家可以买个免驱动的无线网卡，设置好后，进行测试，通过实验报告展示。</a:t>
            </a:r>
          </a:p>
        </p:txBody>
      </p:sp>
      <p:sp>
        <p:nvSpPr>
          <p:cNvPr id="64516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EB47A78C-735B-469F-AC81-79FFA201261F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30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4141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下面是树莓派与外界的交互，树莓派作为一个嵌入式开发平台，也遵循嵌入式所谓的交叉开发模式，如图所示，树莓派是目标机、个人</a:t>
            </a:r>
            <a:r>
              <a:rPr lang="en-US">
                <a:ea typeface="宋体" panose="02010600030101010101" pitchFamily="2" charset="-122"/>
              </a:rPr>
              <a:t>PC</a:t>
            </a:r>
            <a:r>
              <a:rPr lang="zh-CN" altLang="en-US"/>
              <a:t>是宿主机，在实际的应用开发中，我们不会在树莓派上进行直接操作，而是通过远程登录的方式，</a:t>
            </a:r>
            <a:r>
              <a:rPr lang="en-US">
                <a:ea typeface="宋体" panose="02010600030101010101" pitchFamily="2" charset="-122"/>
              </a:rPr>
              <a:t>PC</a:t>
            </a:r>
            <a:r>
              <a:rPr lang="zh-CN" altLang="en-US"/>
              <a:t>端远程登录到树莓派上，对树莓派进行操作，这时，我们就要考虑树莓派与外界的交互，通常有三种方式可以实现，分别是。。。 。。。下面分别介绍</a:t>
            </a:r>
          </a:p>
        </p:txBody>
      </p:sp>
      <p:sp>
        <p:nvSpPr>
          <p:cNvPr id="6656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FDFE6C02-D8E4-4016-888D-A69C9E208CF3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31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9019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串口调试是嵌入式开发中非常重要的方式，要想进行串口调试，首先准备一根</a:t>
            </a:r>
            <a:r>
              <a:rPr lang="en-US">
                <a:ea typeface="宋体" panose="02010600030101010101" pitchFamily="2" charset="-122"/>
              </a:rPr>
              <a:t>USB</a:t>
            </a:r>
            <a:r>
              <a:rPr lang="zh-CN" altLang="en-US"/>
              <a:t>转</a:t>
            </a:r>
            <a:r>
              <a:rPr lang="en-US">
                <a:ea typeface="宋体" panose="02010600030101010101" pitchFamily="2" charset="-122"/>
              </a:rPr>
              <a:t>TTL</a:t>
            </a:r>
            <a:r>
              <a:rPr lang="zh-CN" altLang="en-US"/>
              <a:t>线，然后连接起来，</a:t>
            </a:r>
            <a:r>
              <a:rPr lang="en-US">
                <a:ea typeface="宋体" panose="02010600030101010101" pitchFamily="2" charset="-122"/>
              </a:rPr>
              <a:t>PC</a:t>
            </a:r>
            <a:r>
              <a:rPr lang="zh-CN" altLang="en-US"/>
              <a:t>端设置，驱动下载，超级终端，启动树莓派，就可以在</a:t>
            </a:r>
            <a:r>
              <a:rPr lang="en-US">
                <a:ea typeface="宋体" panose="02010600030101010101" pitchFamily="2" charset="-122"/>
              </a:rPr>
              <a:t>Putty</a:t>
            </a:r>
            <a:r>
              <a:rPr lang="zh-CN" altLang="en-US"/>
              <a:t>中看到树莓派启动时的信息了。</a:t>
            </a:r>
          </a:p>
        </p:txBody>
      </p:sp>
      <p:sp>
        <p:nvSpPr>
          <p:cNvPr id="6861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B58C7841-C5B4-48AC-BAD9-4B3790FC3BD0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32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098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SSH</a:t>
            </a:r>
            <a:r>
              <a:rPr lang="zh-CN" altLang="en-US"/>
              <a:t>远程登录方式，首先搭建网络环境，将</a:t>
            </a:r>
            <a:r>
              <a:rPr lang="en-US">
                <a:ea typeface="宋体" panose="02010600030101010101" pitchFamily="2" charset="-122"/>
              </a:rPr>
              <a:t>PC</a:t>
            </a:r>
            <a:r>
              <a:rPr lang="zh-CN" altLang="en-US"/>
              <a:t>机与树莓派</a:t>
            </a:r>
            <a:r>
              <a:rPr lang="en-US">
                <a:ea typeface="宋体" panose="02010600030101010101" pitchFamily="2" charset="-122"/>
              </a:rPr>
              <a:t>IP</a:t>
            </a:r>
            <a:r>
              <a:rPr lang="zh-CN" altLang="en-US"/>
              <a:t>地址固定并且处于同一个局域网内，可以</a:t>
            </a:r>
            <a:r>
              <a:rPr lang="en-US">
                <a:ea typeface="宋体" panose="02010600030101010101" pitchFamily="2" charset="-122"/>
              </a:rPr>
              <a:t>ping</a:t>
            </a:r>
            <a:r>
              <a:rPr lang="zh-CN" altLang="en-US"/>
              <a:t>通，然后在树莓派一端设置</a:t>
            </a:r>
            <a:r>
              <a:rPr lang="en-US">
                <a:ea typeface="宋体" panose="02010600030101010101" pitchFamily="2" charset="-122"/>
              </a:rPr>
              <a:t>SSH</a:t>
            </a:r>
            <a:r>
              <a:rPr lang="zh-CN" altLang="en-US"/>
              <a:t>使能，通过</a:t>
            </a:r>
            <a:r>
              <a:rPr lang="en-US">
                <a:ea typeface="宋体" panose="02010600030101010101" pitchFamily="2" charset="-122"/>
              </a:rPr>
              <a:t>raspi-config</a:t>
            </a:r>
            <a:r>
              <a:rPr lang="zh-CN" altLang="en-US"/>
              <a:t>工具就可以配置，配置好后，重启树莓派，然后在</a:t>
            </a:r>
            <a:r>
              <a:rPr lang="en-US">
                <a:ea typeface="宋体" panose="02010600030101010101" pitchFamily="2" charset="-122"/>
              </a:rPr>
              <a:t>Windows</a:t>
            </a:r>
            <a:r>
              <a:rPr lang="zh-CN" altLang="en-US"/>
              <a:t>下，通过</a:t>
            </a:r>
            <a:r>
              <a:rPr lang="en-US">
                <a:ea typeface="宋体" panose="02010600030101010101" pitchFamily="2" charset="-122"/>
              </a:rPr>
              <a:t>Putty</a:t>
            </a:r>
            <a:r>
              <a:rPr lang="zh-CN" altLang="en-US"/>
              <a:t>软件，输入</a:t>
            </a:r>
            <a:r>
              <a:rPr lang="en-US">
                <a:ea typeface="宋体" panose="02010600030101010101" pitchFamily="2" charset="-122"/>
              </a:rPr>
              <a:t>IP</a:t>
            </a:r>
            <a:r>
              <a:rPr lang="zh-CN" altLang="en-US"/>
              <a:t>，用户名和密码，就可以登录到树莓派上了，在</a:t>
            </a:r>
            <a:r>
              <a:rPr lang="en-US">
                <a:ea typeface="宋体" panose="02010600030101010101" pitchFamily="2" charset="-122"/>
              </a:rPr>
              <a:t>Linux</a:t>
            </a:r>
            <a:r>
              <a:rPr lang="zh-CN" altLang="en-US"/>
              <a:t>下，通过</a:t>
            </a:r>
            <a:r>
              <a:rPr lang="en-US">
                <a:ea typeface="宋体" panose="02010600030101010101" pitchFamily="2" charset="-122"/>
              </a:rPr>
              <a:t>SSH</a:t>
            </a:r>
            <a:r>
              <a:rPr lang="zh-CN" altLang="en-US"/>
              <a:t>命令即可，然后输入密码，即可登录到树莓派上。</a:t>
            </a:r>
          </a:p>
        </p:txBody>
      </p:sp>
      <p:sp>
        <p:nvSpPr>
          <p:cNvPr id="7066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DD3B5E37-D3FA-41F6-8B06-97FCC7088338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33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0841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如果你想看到树莓派上</a:t>
            </a:r>
            <a:r>
              <a:rPr lang="en-US">
                <a:ea typeface="宋体" panose="02010600030101010101" pitchFamily="2" charset="-122"/>
              </a:rPr>
              <a:t>Raspbian</a:t>
            </a:r>
            <a:r>
              <a:rPr lang="zh-CN" altLang="en-US"/>
              <a:t>系统的图像用户界面的话，就是用</a:t>
            </a:r>
            <a:r>
              <a:rPr lang="en-US">
                <a:ea typeface="宋体" panose="02010600030101010101" pitchFamily="2" charset="-122"/>
              </a:rPr>
              <a:t>VNC</a:t>
            </a:r>
            <a:r>
              <a:rPr lang="zh-CN" altLang="en-US"/>
              <a:t>方式，树莓派端要下载一个软件，然后运行一个</a:t>
            </a:r>
            <a:r>
              <a:rPr lang="en-US">
                <a:ea typeface="宋体" panose="02010600030101010101" pitchFamily="2" charset="-122"/>
              </a:rPr>
              <a:t>vncserver</a:t>
            </a:r>
            <a:r>
              <a:rPr lang="zh-CN" altLang="en-US"/>
              <a:t>命令，设置一个密码，然后通过</a:t>
            </a:r>
            <a:r>
              <a:rPr lang="en-US">
                <a:ea typeface="宋体" panose="02010600030101010101" pitchFamily="2" charset="-122"/>
              </a:rPr>
              <a:t>VNCViewer</a:t>
            </a:r>
            <a:r>
              <a:rPr lang="zh-CN" altLang="en-US"/>
              <a:t>软件就可以看到</a:t>
            </a:r>
            <a:r>
              <a:rPr lang="en-US">
                <a:ea typeface="宋体" panose="02010600030101010101" pitchFamily="2" charset="-122"/>
              </a:rPr>
              <a:t>Raspbian</a:t>
            </a:r>
            <a:r>
              <a:rPr lang="zh-CN" altLang="en-US"/>
              <a:t>的图形用户界面了，这个软件既有</a:t>
            </a:r>
            <a:r>
              <a:rPr lang="en-US">
                <a:ea typeface="宋体" panose="02010600030101010101" pitchFamily="2" charset="-122"/>
              </a:rPr>
              <a:t>Windows</a:t>
            </a:r>
            <a:r>
              <a:rPr lang="zh-CN" altLang="en-US"/>
              <a:t>版的，也有</a:t>
            </a:r>
            <a:r>
              <a:rPr lang="en-US">
                <a:ea typeface="宋体" panose="02010600030101010101" pitchFamily="2" charset="-122"/>
              </a:rPr>
              <a:t>Android</a:t>
            </a:r>
            <a:r>
              <a:rPr lang="zh-CN" altLang="en-US"/>
              <a:t>版的，在实际的应用开发中，这种方式用的不多，最主要的方式还是串口方式和</a:t>
            </a:r>
            <a:r>
              <a:rPr lang="en-US">
                <a:ea typeface="宋体" panose="02010600030101010101" pitchFamily="2" charset="-122"/>
              </a:rPr>
              <a:t>SSH</a:t>
            </a:r>
            <a:r>
              <a:rPr lang="zh-CN" altLang="en-US"/>
              <a:t>方式。</a:t>
            </a:r>
          </a:p>
        </p:txBody>
      </p:sp>
      <p:sp>
        <p:nvSpPr>
          <p:cNvPr id="72708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F1E268A6-D6B9-4989-879E-17571F928062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34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7626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这个图是我们用</a:t>
            </a:r>
            <a:r>
              <a:rPr lang="en-US">
                <a:ea typeface="宋体" panose="02010600030101010101" pitchFamily="2" charset="-122"/>
              </a:rPr>
              <a:t>VNC</a:t>
            </a:r>
            <a:r>
              <a:rPr lang="zh-CN" altLang="en-US"/>
              <a:t>软件看到的树莓派</a:t>
            </a:r>
            <a:r>
              <a:rPr lang="en-US">
                <a:ea typeface="宋体" panose="02010600030101010101" pitchFamily="2" charset="-122"/>
              </a:rPr>
              <a:t>Raspbian</a:t>
            </a:r>
            <a:r>
              <a:rPr lang="zh-CN" altLang="en-US"/>
              <a:t>系统的图形用户界面，还是比较漂亮的。</a:t>
            </a:r>
          </a:p>
        </p:txBody>
      </p:sp>
      <p:sp>
        <p:nvSpPr>
          <p:cNvPr id="74756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925C441D-609A-417F-9AB2-9BDAD035970F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35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9236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好，我们前面搭好了树莓派开发系统的实验环境，掌握了树莓派与外界交互的三种方式，下面就可以进行嵌入式方面的应用开发了，可能下学期你们会做课程设计，就可以选用树莓派这个开发平台，大家可以参考网络上的资源，自己动手实践。</a:t>
            </a:r>
          </a:p>
        </p:txBody>
      </p:sp>
      <p:sp>
        <p:nvSpPr>
          <p:cNvPr id="7680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9A87F4D4-7849-445A-96F8-29278020B6D2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36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8653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好，到目前为止，树莓派差不多就介绍完了，下面，该是同学们行动起来的时候了，大家可以按照这个顺序，一步一步的来，首先搞清楚树莓派是什么？卡片式电脑，嵌入式开发平台，然后知道树莓派可以用来干什么，接下来就是大家可以购买材料，自己动手实践。接下来给大家推荐一些比较好的学习网站，首先是树莓派官网，树莓派比较权威的网站，但是是英文的，大家可以参考，接下来这两个网站刚才已经说过了，这两个是非常好的网站。</a:t>
            </a:r>
          </a:p>
        </p:txBody>
      </p:sp>
      <p:sp>
        <p:nvSpPr>
          <p:cNvPr id="7885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A8A71BA0-B423-4933-8CB5-364E83FB4421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37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799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接下来还有树莓派论坛，这是个老外的网站，大家英文好的话可以去看。接下来是一个非常好的博客，</a:t>
            </a:r>
            <a:r>
              <a:rPr lang="en-US">
                <a:ea typeface="宋体" panose="02010600030101010101" pitchFamily="2" charset="-122"/>
              </a:rPr>
              <a:t>CSDN</a:t>
            </a:r>
            <a:r>
              <a:rPr lang="zh-CN" altLang="en-US"/>
              <a:t>上的，上面有很多关于树莓派和物联网的东西。平时遇到一些小的问题，大家可以用百度去搜一下。这里没写</a:t>
            </a:r>
            <a:r>
              <a:rPr lang="en-US">
                <a:ea typeface="宋体" panose="02010600030101010101" pitchFamily="2" charset="-122"/>
              </a:rPr>
              <a:t>Google</a:t>
            </a:r>
            <a:r>
              <a:rPr lang="zh-CN" altLang="en-US"/>
              <a:t>，是因为</a:t>
            </a:r>
            <a:r>
              <a:rPr lang="en-US">
                <a:ea typeface="宋体" panose="02010600030101010101" pitchFamily="2" charset="-122"/>
              </a:rPr>
              <a:t>Google</a:t>
            </a:r>
            <a:r>
              <a:rPr lang="zh-CN" altLang="en-US"/>
              <a:t>需要翻墙，我觉得微软的</a:t>
            </a:r>
            <a:r>
              <a:rPr lang="en-US">
                <a:ea typeface="宋体" panose="02010600030101010101" pitchFamily="2" charset="-122"/>
              </a:rPr>
              <a:t>bing</a:t>
            </a:r>
            <a:r>
              <a:rPr lang="zh-CN" altLang="en-US"/>
              <a:t>也挺好用的，尤其是搜一下外文的资料。下面给大家截了几张图，看一下。</a:t>
            </a:r>
          </a:p>
        </p:txBody>
      </p:sp>
      <p:sp>
        <p:nvSpPr>
          <p:cNvPr id="809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95AFB689-1ECA-4F71-9B28-A05F81159F19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38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9268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这里要说一下，这个树莓派论坛比较坑爹，注册的时候需要花钱，这是一个淘宝店弄得，你如果在他的店里面买树莓派，他就给你注册码，满</a:t>
            </a:r>
            <a:r>
              <a:rPr lang="en-US">
                <a:ea typeface="宋体" panose="02010600030101010101" pitchFamily="2" charset="-122"/>
              </a:rPr>
              <a:t>299</a:t>
            </a:r>
            <a:r>
              <a:rPr lang="zh-CN" altLang="en-US"/>
              <a:t>的话会给你</a:t>
            </a:r>
            <a:r>
              <a:rPr lang="en-US">
                <a:ea typeface="宋体" panose="02010600030101010101" pitchFamily="2" charset="-122"/>
              </a:rPr>
              <a:t>VIP</a:t>
            </a:r>
            <a:r>
              <a:rPr lang="zh-CN" altLang="en-US"/>
              <a:t>权限。所以，这个网站大家看不看都行。</a:t>
            </a:r>
          </a:p>
        </p:txBody>
      </p:sp>
      <p:sp>
        <p:nvSpPr>
          <p:cNvPr id="8397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BE98A548-E053-4A3A-AC93-6EE154FCF67A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40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5280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这个是老外的网站，上面有很多好玩的应用。</a:t>
            </a:r>
          </a:p>
        </p:txBody>
      </p:sp>
      <p:sp>
        <p:nvSpPr>
          <p:cNvPr id="8602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5BB1ABB2-6793-49F9-BD43-9DC7A50538D4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41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6059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    </a:t>
            </a:r>
            <a:r>
              <a:rPr lang="zh-CN" altLang="en-US"/>
              <a:t>这个是刚才说的</a:t>
            </a:r>
            <a:r>
              <a:rPr lang="en-US">
                <a:ea typeface="宋体" panose="02010600030101010101" pitchFamily="2" charset="-122"/>
              </a:rPr>
              <a:t>CSDN</a:t>
            </a:r>
            <a:r>
              <a:rPr lang="zh-CN" altLang="en-US"/>
              <a:t>博客，这个博主是从事物联网开发的，写的博客非常好，比较详细，比较具体，非常适合初学者。</a:t>
            </a:r>
          </a:p>
        </p:txBody>
      </p:sp>
      <p:sp>
        <p:nvSpPr>
          <p:cNvPr id="88068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8951EF28-AEA0-4D66-B847-794BE1FA8D0B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42</a:t>
            </a:fld>
            <a:endParaRPr 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1122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17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00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347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57650" cy="464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676400"/>
            <a:ext cx="4057650" cy="464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79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30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49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37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6009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3790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701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7975" y="609600"/>
            <a:ext cx="2066925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48375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298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474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162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08324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57650" cy="464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676400"/>
            <a:ext cx="4057650" cy="464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635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114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700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909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64586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74429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236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7975" y="609600"/>
            <a:ext cx="2066925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48375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578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Oval 105"/>
          <p:cNvSpPr>
            <a:spLocks noChangeArrowheads="1"/>
          </p:cNvSpPr>
          <p:nvPr/>
        </p:nvSpPr>
        <p:spPr bwMode="auto">
          <a:xfrm>
            <a:off x="179388" y="0"/>
            <a:ext cx="6804025" cy="6858000"/>
          </a:xfrm>
          <a:prstGeom prst="ellipse">
            <a:avLst/>
          </a:prstGeom>
          <a:gradFill rotWithShape="1">
            <a:gsLst>
              <a:gs pos="0">
                <a:schemeClr val="bg2">
                  <a:alpha val="43999"/>
                </a:scheme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7" name="Rectangle 106"/>
          <p:cNvSpPr>
            <a:spLocks noChangeArrowheads="1"/>
          </p:cNvSpPr>
          <p:nvPr/>
        </p:nvSpPr>
        <p:spPr bwMode="auto">
          <a:xfrm>
            <a:off x="0" y="549275"/>
            <a:ext cx="9144000" cy="647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8" name="Oval 107"/>
          <p:cNvSpPr>
            <a:spLocks noChangeArrowheads="1"/>
          </p:cNvSpPr>
          <p:nvPr/>
        </p:nvSpPr>
        <p:spPr bwMode="auto">
          <a:xfrm>
            <a:off x="1116013" y="58738"/>
            <a:ext cx="865187" cy="892175"/>
          </a:xfrm>
          <a:prstGeom prst="ellipse">
            <a:avLst/>
          </a:prstGeom>
          <a:solidFill>
            <a:schemeClr val="accent2"/>
          </a:solidFill>
          <a:ln w="38100" cmpd="sng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7999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9" name="Oval 108"/>
          <p:cNvSpPr>
            <a:spLocks noChangeArrowheads="1"/>
          </p:cNvSpPr>
          <p:nvPr/>
        </p:nvSpPr>
        <p:spPr bwMode="auto">
          <a:xfrm>
            <a:off x="8101013" y="106363"/>
            <a:ext cx="790575" cy="830262"/>
          </a:xfrm>
          <a:prstGeom prst="ellipse">
            <a:avLst/>
          </a:prstGeom>
          <a:solidFill>
            <a:schemeClr val="tx2"/>
          </a:solidFill>
          <a:ln w="38100" cmpd="sng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7999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3"/>
            <a:r>
              <a:rPr lang="en-US" altLang="zh-CN" smtClean="0"/>
              <a:t>Fifth level</a:t>
            </a:r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57400" y="609600"/>
            <a:ext cx="6019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32" name="Oval 111"/>
          <p:cNvSpPr>
            <a:spLocks noChangeArrowheads="1"/>
          </p:cNvSpPr>
          <p:nvPr/>
        </p:nvSpPr>
        <p:spPr bwMode="auto">
          <a:xfrm>
            <a:off x="1133475" y="76200"/>
            <a:ext cx="828675" cy="857250"/>
          </a:xfrm>
          <a:prstGeom prst="ellipse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3" name="Oval 109"/>
          <p:cNvSpPr>
            <a:spLocks noChangeArrowheads="1"/>
          </p:cNvSpPr>
          <p:nvPr/>
        </p:nvSpPr>
        <p:spPr bwMode="auto">
          <a:xfrm>
            <a:off x="179388" y="333375"/>
            <a:ext cx="1152525" cy="1223963"/>
          </a:xfrm>
          <a:prstGeom prst="ellipse">
            <a:avLst/>
          </a:prstGeom>
          <a:solidFill>
            <a:schemeClr val="folHlink"/>
          </a:solidFill>
          <a:ln w="38100" cmpd="sng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7999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4" name="Oval 110"/>
          <p:cNvSpPr>
            <a:spLocks noChangeArrowheads="1"/>
          </p:cNvSpPr>
          <p:nvPr/>
        </p:nvSpPr>
        <p:spPr bwMode="auto">
          <a:xfrm>
            <a:off x="190500" y="352425"/>
            <a:ext cx="1128713" cy="1185863"/>
          </a:xfrm>
          <a:prstGeom prst="ellipse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5" name="Oval 112"/>
          <p:cNvSpPr>
            <a:spLocks noChangeArrowheads="1"/>
          </p:cNvSpPr>
          <p:nvPr/>
        </p:nvSpPr>
        <p:spPr bwMode="auto">
          <a:xfrm>
            <a:off x="8120063" y="123825"/>
            <a:ext cx="757237" cy="795338"/>
          </a:xfrm>
          <a:prstGeom prst="ellipse">
            <a:avLst/>
          </a:prstGeom>
          <a:blipFill dpi="0" rotWithShape="1">
            <a:blip r:embed="rId1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6" name="Text Box 113"/>
          <p:cNvSpPr txBox="1">
            <a:spLocks noChangeArrowheads="1"/>
          </p:cNvSpPr>
          <p:nvPr/>
        </p:nvSpPr>
        <p:spPr bwMode="auto">
          <a:xfrm>
            <a:off x="6248400" y="6286500"/>
            <a:ext cx="265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b="1" i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西安电子科技大学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Oval 38"/>
          <p:cNvSpPr>
            <a:spLocks noChangeArrowheads="1"/>
          </p:cNvSpPr>
          <p:nvPr/>
        </p:nvSpPr>
        <p:spPr bwMode="auto">
          <a:xfrm>
            <a:off x="684213" y="333375"/>
            <a:ext cx="5905500" cy="5761038"/>
          </a:xfrm>
          <a:prstGeom prst="ellipse">
            <a:avLst/>
          </a:prstGeom>
          <a:gradFill rotWithShape="1">
            <a:gsLst>
              <a:gs pos="0">
                <a:schemeClr val="bg2">
                  <a:alpha val="48000"/>
                </a:schemeClr>
              </a:gs>
              <a:gs pos="100000">
                <a:srgbClr val="FFFFFF">
                  <a:alpha val="79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1" name="Rectangle 39"/>
          <p:cNvSpPr>
            <a:spLocks noChangeArrowheads="1"/>
          </p:cNvSpPr>
          <p:nvPr/>
        </p:nvSpPr>
        <p:spPr bwMode="auto">
          <a:xfrm>
            <a:off x="0" y="4437063"/>
            <a:ext cx="9144000" cy="17287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2" name="Oval 40"/>
          <p:cNvSpPr>
            <a:spLocks noChangeArrowheads="1"/>
          </p:cNvSpPr>
          <p:nvPr/>
        </p:nvSpPr>
        <p:spPr bwMode="auto">
          <a:xfrm>
            <a:off x="971550" y="1628775"/>
            <a:ext cx="3529013" cy="3671888"/>
          </a:xfrm>
          <a:prstGeom prst="ellipse">
            <a:avLst/>
          </a:prstGeom>
          <a:solidFill>
            <a:schemeClr val="accent2"/>
          </a:solidFill>
          <a:ln w="38100" cmpd="sng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7999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3" name="Oval 42"/>
          <p:cNvSpPr>
            <a:spLocks noChangeArrowheads="1"/>
          </p:cNvSpPr>
          <p:nvPr/>
        </p:nvSpPr>
        <p:spPr bwMode="auto">
          <a:xfrm>
            <a:off x="1258888" y="260350"/>
            <a:ext cx="935037" cy="936625"/>
          </a:xfrm>
          <a:prstGeom prst="ellipse">
            <a:avLst/>
          </a:prstGeom>
          <a:solidFill>
            <a:schemeClr val="tx2"/>
          </a:solidFill>
          <a:ln w="38100" cmpd="sng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7999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4" name="Oval 43"/>
          <p:cNvSpPr>
            <a:spLocks noChangeArrowheads="1"/>
          </p:cNvSpPr>
          <p:nvPr/>
        </p:nvSpPr>
        <p:spPr bwMode="auto">
          <a:xfrm>
            <a:off x="4211638" y="2636838"/>
            <a:ext cx="1223962" cy="1223962"/>
          </a:xfrm>
          <a:prstGeom prst="ellipse">
            <a:avLst/>
          </a:prstGeom>
          <a:solidFill>
            <a:srgbClr val="1BABE5">
              <a:alpha val="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5" name="Text Box 14"/>
          <p:cNvSpPr txBox="1">
            <a:spLocks noChangeArrowheads="1"/>
          </p:cNvSpPr>
          <p:nvPr/>
        </p:nvSpPr>
        <p:spPr bwMode="auto">
          <a:xfrm>
            <a:off x="6248400" y="6286500"/>
            <a:ext cx="265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b="1" i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西安电子科技大学</a:t>
            </a:r>
          </a:p>
        </p:txBody>
      </p:sp>
      <p:sp>
        <p:nvSpPr>
          <p:cNvPr id="2056" name="Oval 49"/>
          <p:cNvSpPr>
            <a:spLocks noChangeArrowheads="1"/>
          </p:cNvSpPr>
          <p:nvPr/>
        </p:nvSpPr>
        <p:spPr bwMode="auto">
          <a:xfrm>
            <a:off x="993775" y="1651000"/>
            <a:ext cx="3490913" cy="3629025"/>
          </a:xfrm>
          <a:prstGeom prst="ellipse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7" name="Oval 50"/>
          <p:cNvSpPr>
            <a:spLocks noChangeArrowheads="1"/>
          </p:cNvSpPr>
          <p:nvPr/>
        </p:nvSpPr>
        <p:spPr bwMode="auto">
          <a:xfrm>
            <a:off x="1276350" y="277813"/>
            <a:ext cx="900113" cy="900112"/>
          </a:xfrm>
          <a:prstGeom prst="ellipse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8" name="Oval 44"/>
          <p:cNvSpPr>
            <a:spLocks noChangeArrowheads="1"/>
          </p:cNvSpPr>
          <p:nvPr/>
        </p:nvSpPr>
        <p:spPr bwMode="auto">
          <a:xfrm>
            <a:off x="3856038" y="3500438"/>
            <a:ext cx="1582737" cy="1582737"/>
          </a:xfrm>
          <a:prstGeom prst="ellipse">
            <a:avLst/>
          </a:prstGeom>
          <a:solidFill>
            <a:schemeClr val="folHlink"/>
          </a:solidFill>
          <a:ln w="38100" cmpd="sng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7999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en-US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9" name="Oval 51"/>
          <p:cNvSpPr>
            <a:spLocks noChangeArrowheads="1"/>
          </p:cNvSpPr>
          <p:nvPr/>
        </p:nvSpPr>
        <p:spPr bwMode="auto">
          <a:xfrm>
            <a:off x="3881438" y="3521075"/>
            <a:ext cx="1533525" cy="1543050"/>
          </a:xfrm>
          <a:prstGeom prst="ellipse">
            <a:avLst/>
          </a:prstGeom>
          <a:blipFill dpi="0" rotWithShape="1">
            <a:blip r:embed="rId1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0" name="Oval 41"/>
          <p:cNvSpPr>
            <a:spLocks noChangeArrowheads="1"/>
          </p:cNvSpPr>
          <p:nvPr/>
        </p:nvSpPr>
        <p:spPr bwMode="auto">
          <a:xfrm>
            <a:off x="323850" y="1268413"/>
            <a:ext cx="1438275" cy="1511300"/>
          </a:xfrm>
          <a:prstGeom prst="ellipse">
            <a:avLst/>
          </a:prstGeom>
          <a:solidFill>
            <a:schemeClr val="folHlink"/>
          </a:solidFill>
          <a:ln w="38100" cmpd="sng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7999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1" name="Oval 52"/>
          <p:cNvSpPr>
            <a:spLocks noChangeArrowheads="1"/>
          </p:cNvSpPr>
          <p:nvPr/>
        </p:nvSpPr>
        <p:spPr bwMode="auto">
          <a:xfrm>
            <a:off x="330200" y="1287463"/>
            <a:ext cx="1419225" cy="1462087"/>
          </a:xfrm>
          <a:prstGeom prst="ellipse">
            <a:avLst/>
          </a:prstGeom>
          <a:blipFill dpi="0" rotWithShape="1">
            <a:blip r:embed="rId1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3"/>
            <a:r>
              <a:rPr lang="en-US" altLang="zh-CN" smtClean="0"/>
              <a:t>Fifth level</a:t>
            </a:r>
          </a:p>
        </p:txBody>
      </p:sp>
      <p:sp>
        <p:nvSpPr>
          <p:cNvPr id="206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57400" y="609600"/>
            <a:ext cx="6019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aspberrypi.org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pcduino.com/" TargetMode="External"/><Relationship Id="rId5" Type="http://schemas.openxmlformats.org/officeDocument/2006/relationships/hyperlink" Target="http://cubieboard.org/" TargetMode="External"/><Relationship Id="rId4" Type="http://schemas.openxmlformats.org/officeDocument/2006/relationships/hyperlink" Target="http://www.bananapi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aveshare.net/shop/RPi-B-Plus.ht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shumeipai.nxez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shumeipai.nxez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shumeipai.nxez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shumeipai.nxez.com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ekfan.net/category/hardware/raspberry-pi-hardware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ekfan.net/category/hardware/raspberry-pi-hardware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aspberrypi.org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www.geekfan.net/category/hardware/raspberry-pi-hardware/" TargetMode="External"/><Relationship Id="rId4" Type="http://schemas.openxmlformats.org/officeDocument/2006/relationships/hyperlink" Target="http://shumeipai.nxez.com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humeipai.net/forum.php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blog.csdn.net/xukai871105/" TargetMode="External"/><Relationship Id="rId4" Type="http://schemas.openxmlformats.org/officeDocument/2006/relationships/hyperlink" Target="http://www.adafruit.com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://www.raspberrypi.org/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humeipai.net/forum.php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afruit.com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csdn.net/xukai871105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1905000" y="381000"/>
            <a:ext cx="7239000" cy="1676400"/>
          </a:xfrm>
        </p:spPr>
        <p:txBody>
          <a:bodyPr/>
          <a:lstStyle/>
          <a:p>
            <a:pPr algn="r"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sz="8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初识树莓派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050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4000" b="0">
                <a:solidFill>
                  <a:schemeClr val="tx1"/>
                </a:solidFill>
                <a:ea typeface="隶书" panose="02010509060101010101" pitchFamily="49" charset="-122"/>
              </a:rPr>
              <a:t>内容提要</a:t>
            </a:r>
          </a:p>
        </p:txBody>
      </p:sp>
      <p:pic>
        <p:nvPicPr>
          <p:cNvPr id="6147" name="Picture 4" descr="C:\Documents and Settings\鱼不愚\桌面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4"/>
          <a:stretch>
            <a:fillRect/>
          </a:stretch>
        </p:blipFill>
        <p:spPr bwMode="auto">
          <a:xfrm>
            <a:off x="228600" y="2438400"/>
            <a:ext cx="2963863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48" name="Group 4"/>
          <p:cNvGrpSpPr>
            <a:grpSpLocks/>
          </p:cNvGrpSpPr>
          <p:nvPr/>
        </p:nvGrpSpPr>
        <p:grpSpPr bwMode="auto">
          <a:xfrm>
            <a:off x="3124200" y="2057400"/>
            <a:ext cx="5464175" cy="561975"/>
            <a:chOff x="0" y="0"/>
            <a:chExt cx="3524" cy="354"/>
          </a:xfrm>
        </p:grpSpPr>
        <p:pic>
          <p:nvPicPr>
            <p:cNvPr id="6149" name="组合 24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"/>
              <a:ext cx="307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150" name="Group 6"/>
            <p:cNvGrpSpPr>
              <a:grpSpLocks/>
            </p:cNvGrpSpPr>
            <p:nvPr/>
          </p:nvGrpSpPr>
          <p:grpSpPr bwMode="auto">
            <a:xfrm>
              <a:off x="381" y="291"/>
              <a:ext cx="3141" cy="65"/>
              <a:chOff x="0" y="0"/>
              <a:chExt cx="4870704" cy="103632"/>
            </a:xfrm>
          </p:grpSpPr>
          <p:pic>
            <p:nvPicPr>
              <p:cNvPr id="6151" name="圆角矩形 72"/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4870704" cy="1036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52" name="Text Box 8"/>
              <p:cNvSpPr txBox="1">
                <a:spLocks noChangeArrowheads="1"/>
              </p:cNvSpPr>
              <p:nvPr/>
            </p:nvSpPr>
            <p:spPr bwMode="auto">
              <a:xfrm>
                <a:off x="30071" y="28496"/>
                <a:ext cx="4816825" cy="505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153" name="Picture 39" descr="E:\廖秋霞\学习\汇总\未标题-2 拷贝.jpg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4" y="57"/>
              <a:ext cx="49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54" name="Text Box 17"/>
          <p:cNvSpPr txBox="1">
            <a:spLocks noChangeArrowheads="1"/>
          </p:cNvSpPr>
          <p:nvPr/>
        </p:nvSpPr>
        <p:spPr bwMode="auto">
          <a:xfrm>
            <a:off x="3657600" y="2017713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1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一、你想学嵌入式开发吗？</a:t>
            </a:r>
          </a:p>
        </p:txBody>
      </p:sp>
      <p:grpSp>
        <p:nvGrpSpPr>
          <p:cNvPr id="6155" name="Group 11"/>
          <p:cNvGrpSpPr>
            <a:grpSpLocks/>
          </p:cNvGrpSpPr>
          <p:nvPr/>
        </p:nvGrpSpPr>
        <p:grpSpPr bwMode="auto">
          <a:xfrm>
            <a:off x="3124200" y="3505200"/>
            <a:ext cx="5470525" cy="561975"/>
            <a:chOff x="0" y="0"/>
            <a:chExt cx="3524" cy="354"/>
          </a:xfrm>
        </p:grpSpPr>
        <p:pic>
          <p:nvPicPr>
            <p:cNvPr id="6156" name="组合 24"/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306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157" name="Group 13"/>
            <p:cNvGrpSpPr>
              <a:grpSpLocks/>
            </p:cNvGrpSpPr>
            <p:nvPr/>
          </p:nvGrpSpPr>
          <p:grpSpPr bwMode="auto">
            <a:xfrm>
              <a:off x="381" y="289"/>
              <a:ext cx="3142" cy="65"/>
              <a:chOff x="0" y="0"/>
              <a:chExt cx="4876800" cy="103632"/>
            </a:xfrm>
          </p:grpSpPr>
          <p:pic>
            <p:nvPicPr>
              <p:cNvPr id="6158" name="圆角矩形 72"/>
              <p:cNvPicPr>
                <a:picLocks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4876800" cy="1036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59" name="Text Box 15"/>
              <p:cNvSpPr txBox="1">
                <a:spLocks noChangeArrowheads="1"/>
              </p:cNvSpPr>
              <p:nvPr/>
            </p:nvSpPr>
            <p:spPr bwMode="auto">
              <a:xfrm>
                <a:off x="30603" y="31544"/>
                <a:ext cx="4821042" cy="505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160" name="Picture 39" descr="E:\廖秋霞\学习\汇总\未标题-2 拷贝.jpg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4" y="57"/>
              <a:ext cx="49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61" name="Text Box 24"/>
          <p:cNvSpPr txBox="1">
            <a:spLocks noChangeArrowheads="1"/>
          </p:cNvSpPr>
          <p:nvPr/>
        </p:nvSpPr>
        <p:spPr bwMode="auto">
          <a:xfrm>
            <a:off x="3657600" y="3505200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1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三、树莓派可以用来干什么？</a:t>
            </a:r>
          </a:p>
        </p:txBody>
      </p:sp>
      <p:grpSp>
        <p:nvGrpSpPr>
          <p:cNvPr id="6162" name="Group 18"/>
          <p:cNvGrpSpPr>
            <a:grpSpLocks/>
          </p:cNvGrpSpPr>
          <p:nvPr/>
        </p:nvGrpSpPr>
        <p:grpSpPr bwMode="auto">
          <a:xfrm>
            <a:off x="3124200" y="4295775"/>
            <a:ext cx="5470525" cy="561975"/>
            <a:chOff x="0" y="0"/>
            <a:chExt cx="3524" cy="354"/>
          </a:xfrm>
        </p:grpSpPr>
        <p:pic>
          <p:nvPicPr>
            <p:cNvPr id="6163" name="组合 24"/>
            <p:cNvPicPr>
              <a:picLocks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"/>
              <a:ext cx="306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164" name="Group 20"/>
            <p:cNvGrpSpPr>
              <a:grpSpLocks/>
            </p:cNvGrpSpPr>
            <p:nvPr/>
          </p:nvGrpSpPr>
          <p:grpSpPr bwMode="auto">
            <a:xfrm>
              <a:off x="381" y="290"/>
              <a:ext cx="3142" cy="65"/>
              <a:chOff x="0" y="0"/>
              <a:chExt cx="4876800" cy="103632"/>
            </a:xfrm>
          </p:grpSpPr>
          <p:pic>
            <p:nvPicPr>
              <p:cNvPr id="6165" name="圆角矩形 72"/>
              <p:cNvPicPr>
                <a:picLocks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4876800" cy="1036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66" name="Text Box 22"/>
              <p:cNvSpPr txBox="1">
                <a:spLocks noChangeArrowheads="1"/>
              </p:cNvSpPr>
              <p:nvPr/>
            </p:nvSpPr>
            <p:spPr bwMode="auto">
              <a:xfrm>
                <a:off x="30603" y="29639"/>
                <a:ext cx="4821042" cy="505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167" name="Picture 39" descr="E:\廖秋霞\学习\汇总\未标题-2 拷贝.jpg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4" y="57"/>
              <a:ext cx="49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68" name="Text Box 31"/>
          <p:cNvSpPr txBox="1">
            <a:spLocks noChangeArrowheads="1"/>
          </p:cNvSpPr>
          <p:nvPr/>
        </p:nvSpPr>
        <p:spPr bwMode="auto">
          <a:xfrm>
            <a:off x="3657600" y="4295775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1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四、如何入门树莓派？</a:t>
            </a:r>
          </a:p>
        </p:txBody>
      </p:sp>
      <p:grpSp>
        <p:nvGrpSpPr>
          <p:cNvPr id="6169" name="Group 25"/>
          <p:cNvGrpSpPr>
            <a:grpSpLocks/>
          </p:cNvGrpSpPr>
          <p:nvPr/>
        </p:nvGrpSpPr>
        <p:grpSpPr bwMode="auto">
          <a:xfrm>
            <a:off x="3124200" y="5105400"/>
            <a:ext cx="5486400" cy="561975"/>
            <a:chOff x="0" y="0"/>
            <a:chExt cx="3524" cy="354"/>
          </a:xfrm>
        </p:grpSpPr>
        <p:pic>
          <p:nvPicPr>
            <p:cNvPr id="6170" name="组合 24"/>
            <p:cNvPicPr>
              <a:picLocks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"/>
              <a:ext cx="305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171" name="Group 27"/>
            <p:cNvGrpSpPr>
              <a:grpSpLocks/>
            </p:cNvGrpSpPr>
            <p:nvPr/>
          </p:nvGrpSpPr>
          <p:grpSpPr bwMode="auto">
            <a:xfrm>
              <a:off x="384" y="291"/>
              <a:ext cx="3136" cy="65"/>
              <a:chOff x="0" y="0"/>
              <a:chExt cx="4882896" cy="103632"/>
            </a:xfrm>
          </p:grpSpPr>
          <p:pic>
            <p:nvPicPr>
              <p:cNvPr id="6172" name="圆角矩形 72"/>
              <p:cNvPicPr>
                <a:picLocks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4882896" cy="1036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73" name="Text Box 29"/>
              <p:cNvSpPr txBox="1">
                <a:spLocks noChangeArrowheads="1"/>
              </p:cNvSpPr>
              <p:nvPr/>
            </p:nvSpPr>
            <p:spPr bwMode="auto">
              <a:xfrm>
                <a:off x="26460" y="28496"/>
                <a:ext cx="4836502" cy="505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174" name="Picture 39" descr="E:\廖秋霞\学习\汇总\未标题-2 拷贝.jpg"/>
            <p:cNvPicPr>
              <a:picLocks noChangeAspect="1" noChangeArrowheads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4" y="57"/>
              <a:ext cx="49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75" name="Text Box 45"/>
          <p:cNvSpPr txBox="1">
            <a:spLocks noChangeArrowheads="1"/>
          </p:cNvSpPr>
          <p:nvPr/>
        </p:nvSpPr>
        <p:spPr bwMode="auto">
          <a:xfrm>
            <a:off x="3657600" y="51054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1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五、马上行动起来吧</a:t>
            </a:r>
          </a:p>
        </p:txBody>
      </p:sp>
      <p:grpSp>
        <p:nvGrpSpPr>
          <p:cNvPr id="6176" name="Group 32"/>
          <p:cNvGrpSpPr>
            <a:grpSpLocks/>
          </p:cNvGrpSpPr>
          <p:nvPr/>
        </p:nvGrpSpPr>
        <p:grpSpPr bwMode="auto">
          <a:xfrm>
            <a:off x="3124200" y="2771775"/>
            <a:ext cx="5470525" cy="561975"/>
            <a:chOff x="0" y="0"/>
            <a:chExt cx="3524" cy="354"/>
          </a:xfrm>
        </p:grpSpPr>
        <p:pic>
          <p:nvPicPr>
            <p:cNvPr id="6177" name="组合 24"/>
            <p:cNvPicPr>
              <a:picLocks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"/>
              <a:ext cx="306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178" name="Group 34"/>
            <p:cNvGrpSpPr>
              <a:grpSpLocks/>
            </p:cNvGrpSpPr>
            <p:nvPr/>
          </p:nvGrpSpPr>
          <p:grpSpPr bwMode="auto">
            <a:xfrm>
              <a:off x="381" y="290"/>
              <a:ext cx="3142" cy="65"/>
              <a:chOff x="0" y="0"/>
              <a:chExt cx="4876800" cy="103632"/>
            </a:xfrm>
          </p:grpSpPr>
          <p:pic>
            <p:nvPicPr>
              <p:cNvPr id="6179" name="圆角矩形 72"/>
              <p:cNvPicPr>
                <a:picLocks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4876800" cy="1036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80" name="Text Box 36"/>
              <p:cNvSpPr txBox="1">
                <a:spLocks noChangeArrowheads="1"/>
              </p:cNvSpPr>
              <p:nvPr/>
            </p:nvSpPr>
            <p:spPr bwMode="auto">
              <a:xfrm>
                <a:off x="30603" y="29639"/>
                <a:ext cx="4821042" cy="505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181" name="Picture 39" descr="E:\廖秋霞\学习\汇总\未标题-2 拷贝.jpg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4" y="57"/>
              <a:ext cx="49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82" name="Text Box 52"/>
          <p:cNvSpPr txBox="1">
            <a:spLocks noChangeArrowheads="1"/>
          </p:cNvSpPr>
          <p:nvPr/>
        </p:nvSpPr>
        <p:spPr bwMode="auto">
          <a:xfrm>
            <a:off x="3657600" y="2771775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1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二、树莓派是什么？</a:t>
            </a:r>
            <a:endParaRPr lang="zh-CN" altLang="en-US" b="1">
              <a:solidFill>
                <a:schemeClr val="tx2"/>
              </a:solidFill>
              <a:latin typeface="幼圆" panose="02010509060101010101" pitchFamily="49" charset="-122"/>
              <a:ea typeface="幼圆" panose="02010509060101010101" pitchFamily="49" charset="-122"/>
              <a:sym typeface="Arial" panose="020B0604020202020204" pitchFamily="34" charset="0"/>
            </a:endParaRPr>
          </a:p>
        </p:txBody>
      </p:sp>
      <p:pic>
        <p:nvPicPr>
          <p:cNvPr id="6183" name="Picture 39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6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6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6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" grpId="0" bldLvl="0" autoUpdateAnimBg="0"/>
      <p:bldP spid="6161" grpId="0" bldLvl="0" autoUpdateAnimBg="0"/>
      <p:bldP spid="6175" grpId="0" bldLvl="0" autoUpdateAnimBg="0"/>
      <p:bldP spid="6182" grpId="0" bldLvl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一、你想学嵌入式开发吗？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兴趣、职业规划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必要的基础知识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 	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单片机、嵌入式系统、嵌入式程序设计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选一个开发平台，优缺点对比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实验箱：大家正在用的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开发板：Mini2440、Tiny6410、OK6410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卡片式电脑：树莓派、香蕉派</a:t>
            </a:r>
          </a:p>
          <a:p>
            <a:pPr eaLnBrk="1" hangingPunct="1">
              <a:spcAft>
                <a:spcPct val="20000"/>
              </a:spcAft>
            </a:pPr>
            <a:endParaRPr lang="zh-CN" altLang="en-US" sz="2800" b="1">
              <a:ea typeface="宋体" panose="02010600030101010101" pitchFamily="2" charset="-122"/>
            </a:endParaRPr>
          </a:p>
        </p:txBody>
      </p:sp>
      <p:pic>
        <p:nvPicPr>
          <p:cNvPr id="8196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2954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一、你想学嵌入式开发吗？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卡片式电脑</a:t>
            </a:r>
          </a:p>
          <a:p>
            <a:pPr lvl="1" eaLnBrk="1" hangingPunct="1"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只有一张信用卡大小的卡片式计算机</a:t>
            </a:r>
          </a:p>
          <a:p>
            <a:pPr lvl="1" eaLnBrk="1" hangingPunct="1"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优点：资源丰富、体积小、功耗低、价格便宜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几款比较流行的卡片式计算机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树莓派：</a:t>
            </a: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  <a:hlinkClick r:id="rId3"/>
              </a:rPr>
              <a:t>http://www.raspberrypi.org/</a:t>
            </a:r>
            <a:endParaRPr lang="zh-CN" altLang="en-US" sz="2400" b="1">
              <a:solidFill>
                <a:srgbClr val="FF0000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香蕉派：</a:t>
            </a: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  <a:hlinkClick r:id="rId4"/>
              </a:rPr>
              <a:t>http://www.bananapi.org/</a:t>
            </a:r>
            <a:endParaRPr lang="zh-CN" altLang="en-US" sz="2400" b="1">
              <a:solidFill>
                <a:srgbClr val="FF0000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CubieBoard：</a:t>
            </a: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  <a:hlinkClick r:id="rId5"/>
              </a:rPr>
              <a:t>http://cubieboard.org/</a:t>
            </a:r>
            <a:endParaRPr lang="zh-CN" altLang="en-US" sz="2400" b="1">
              <a:solidFill>
                <a:srgbClr val="FF0000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pcDuino：</a:t>
            </a: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sym typeface="Arial" panose="020B0604020202020204" pitchFamily="34" charset="0"/>
                <a:hlinkClick r:id="rId6"/>
              </a:rPr>
              <a:t>http://www.pcduino.com/</a:t>
            </a:r>
            <a:endParaRPr lang="zh-CN" altLang="en-US" sz="2400" b="1">
              <a:solidFill>
                <a:srgbClr val="FF0000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0244" name="Picture 3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40005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一、你想学嵌入式开发吗？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267700" cy="1066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树莓派：Raspberry Pi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    </a:t>
            </a:r>
            <a:endParaRPr lang="zh-CN" altLang="en-US" b="1">
              <a:solidFill>
                <a:srgbClr val="FF0000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229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95513"/>
            <a:ext cx="7000875" cy="412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一、你想学嵌入式开发吗？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267700" cy="1066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香蕉派：Banana Pi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    </a:t>
            </a:r>
            <a:endParaRPr lang="zh-CN" altLang="en-US" b="1">
              <a:solidFill>
                <a:srgbClr val="FF0000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4340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09800"/>
            <a:ext cx="5957888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一、你想学嵌入式开发吗？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267700" cy="1066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altLang="zh-CN" sz="2800" b="1">
                <a:ea typeface="宋体" panose="02010600030101010101" pitchFamily="2" charset="-122"/>
              </a:rPr>
              <a:t>CubieBoard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    </a:t>
            </a:r>
            <a:endParaRPr lang="en-US" altLang="zh-CN" b="1">
              <a:solidFill>
                <a:srgbClr val="FF0000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638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09800"/>
            <a:ext cx="6629400" cy="414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一、你想学嵌入式开发吗？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267700" cy="1066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altLang="zh-CN" sz="2800" b="1">
                <a:ea typeface="宋体" panose="02010600030101010101" pitchFamily="2" charset="-122"/>
              </a:rPr>
              <a:t>pcDuino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    </a:t>
            </a:r>
            <a:endParaRPr lang="en-US" altLang="zh-CN" b="1">
              <a:solidFill>
                <a:srgbClr val="FF0000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8436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219200"/>
            <a:ext cx="4865688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二、树莓派是什么？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82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</a:t>
            </a:r>
          </a:p>
          <a:p>
            <a:pPr eaLnBrk="1" hangingPunct="1">
              <a:lnSpc>
                <a:spcPts val="33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>
                <a:ea typeface="宋体" panose="02010600030101010101" pitchFamily="2" charset="-122"/>
              </a:rPr>
              <a:t>    	</a:t>
            </a:r>
            <a:r>
              <a:rPr lang="zh-CN" altLang="en-US" b="1">
                <a:solidFill>
                  <a:srgbClr val="CC0099"/>
                </a:solidFill>
                <a:ea typeface="宋体" panose="02010600030101010101" pitchFamily="2" charset="-122"/>
              </a:rPr>
              <a:t>一款只有一张信用卡大小的卡片式计算机，配备一枚基于 ARM 的主频为 700MHz 的处理器，512MB 内存，支持 SD 卡和 Ethernet 等，其上运行的是 Linux 操作系统。它由英国的树莓派基金会所开发，目的是通过低价硬件及自由软件来推动学校的基础计算机学科教育。</a:t>
            </a:r>
            <a:r>
              <a:rPr lang="zh-CN" altLang="en-US">
                <a:solidFill>
                  <a:srgbClr val="CC0099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rgbClr val="CC0099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rgbClr val="CC0099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20484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44958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二、树莓派是什么？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8382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树莓派开发系统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295400"/>
            <a:ext cx="3810000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33" name="Picture 3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004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二、树莓派是什么？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树莓派前后不同版本对比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362200"/>
            <a:ext cx="8864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458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二、树莓派是什么？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0772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B+型树莓派硬件资源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Boradcom BCM2835 SOC 700MHz 4核GPU处理器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GPU支持Open GL ES 2.0，OpenVG硬件加速，1080p30 H.264高清解码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GPU支持1Gpixel/s，1.5</a:t>
            </a:r>
            <a:r>
              <a:rPr lang="zh-CN" altLang="en-US" sz="2400" b="1">
                <a:ea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Gtexel/s or 24GFLOPs DMA 纹理解析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512MB内存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带Micro SD卡槽：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支持通过SD卡启动Linux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以太网口：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网线，连接有线网络</a:t>
            </a:r>
            <a:r>
              <a:rPr lang="zh-CN" altLang="en-US" b="1">
                <a:solidFill>
                  <a:srgbClr val="6600CC"/>
                </a:solidFill>
                <a:ea typeface="宋体" panose="02010600030101010101" pitchFamily="2" charset="-122"/>
              </a:rPr>
              <a:t/>
            </a:r>
            <a:br>
              <a:rPr lang="zh-CN" altLang="en-US" b="1">
                <a:solidFill>
                  <a:srgbClr val="6600CC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rgbClr val="6600CC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二、树莓派是什么？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B+型树莓派硬件资源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HDMI接口：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通过HDMI转VGA线接显示器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USB 2.0 x4：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USB无线网卡、键盘、鼠标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Micro USB接口供电：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5V 2A电源适配器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3.5mm音视频输出接口：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接耳机、连电视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40Pin GPIO接口：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普通GPIO、UART、IIC、SPI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摄像头接口：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树莓派专用摄像头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LCD接口：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小型LCD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尺寸</a:t>
            </a: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：85x56x17mm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endParaRPr lang="zh-CN" altLang="en-US" sz="2400" b="1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二、树莓派是什么？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7620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B+型树莓派硬件资源</a:t>
            </a:r>
          </a:p>
        </p:txBody>
      </p:sp>
      <p:pic>
        <p:nvPicPr>
          <p:cNvPr id="3072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088" y="1096963"/>
            <a:ext cx="7046912" cy="575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二、树莓派是什么？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1534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树莓派软件资源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操作系统：某种Linux，Debian、Fedora、Arch Linux、RISC OS等；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官方：Raspbian——基于Debian Linux的针对树莓派硬件优化过的操作系统；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推荐大家使用Raspbian。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6600CC"/>
                </a:solidFill>
                <a:ea typeface="宋体" panose="02010600030101010101" pitchFamily="2" charset="-122"/>
              </a:rPr>
              <a:t>Linux学习资源非常丰富。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推荐阅读：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http://www.waveshare.net/shop/RPi-B-Plus.htm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609600"/>
            <a:ext cx="6629400" cy="488950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树莓派实验室：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http://shumeipai.nxez.com/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用QEMU虚拟机模拟使用树莓派</a:t>
            </a:r>
          </a:p>
        </p:txBody>
      </p:sp>
      <p:pic>
        <p:nvPicPr>
          <p:cNvPr id="34820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667000"/>
            <a:ext cx="5029200" cy="391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609600"/>
            <a:ext cx="6629400" cy="488950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1447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树莓派实验室：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http://shumeipai.nxez.com/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用树莓派给智能手机发送推送通知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36868" name="Picture 3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068763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6869" name="图片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667000"/>
            <a:ext cx="5762625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10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609600"/>
            <a:ext cx="6629400" cy="488950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树莓派实验室：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http://shumeipai.nxez.com/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树莓派用AirPlay播放实现WIFI连接无线音箱外放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在树莓派上使用360WIFI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树莓派上的立体视觉与深度知觉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树莓派用蜂鸣器实现整点报时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。。。 。。。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38916" name="Picture 3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068763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609600"/>
            <a:ext cx="6553200" cy="488950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树莓派实验室：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http://shumeipai.nxez.com/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40964" name="图片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8534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52600" y="609600"/>
            <a:ext cx="6629400" cy="488950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极客范-树莓派：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http://www.geekfan.net/category/hardware/raspberry-pi-hardware/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使用Python实现KickStarter跟踪器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当树莓派遇到NES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树莓派联合创始人访谈——我们是怎么让大家成为DIY黑客的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将树莓派打造成音乐播放服务器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将树莓派打造成一台无线路由器(课程设计)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。。。 。。。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7988" y="609600"/>
            <a:ext cx="7008812" cy="487363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极客范-树莓派：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http://www.geekfan.net/category/hardware/raspberry-pi-hardware/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使用Python实现KickStarter跟踪器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当树莓派遇到NES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树莓派联合创始人访谈——我们是怎么让大家成为DIY黑客的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将树莓派打造成音乐播放服务器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将树莓派打造成一台无线路由器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26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。。。 。。。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45060" name="图片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903538"/>
            <a:ext cx="7315200" cy="391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52600" y="609600"/>
            <a:ext cx="6629400" cy="488950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基于树莓派的无线路由器的实现与应用</a:t>
            </a:r>
          </a:p>
          <a:p>
            <a:pPr marL="457200" lvl="1" indent="0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47108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0"/>
            <a:ext cx="8032750" cy="427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52600" y="609600"/>
            <a:ext cx="6629400" cy="488950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基于树莓派的无线路由器的实现与应用</a:t>
            </a:r>
          </a:p>
          <a:p>
            <a:pPr marL="457200" lvl="1" indent="0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49156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85988"/>
            <a:ext cx="6019800" cy="467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52600" y="609600"/>
            <a:ext cx="6629400" cy="488950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双足步行机器人的设计与智能感知研究</a:t>
            </a:r>
          </a:p>
          <a:p>
            <a:pPr marL="457200" lvl="1" indent="0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5120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01863"/>
            <a:ext cx="59769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10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52600" y="609600"/>
            <a:ext cx="6629400" cy="488950"/>
          </a:xfrm>
        </p:spPr>
        <p:txBody>
          <a:bodyPr/>
          <a:lstStyle/>
          <a:p>
            <a:pPr eaLnBrk="1" hangingPunct="1"/>
            <a:r>
              <a:rPr lang="zh-CN" altLang="en-US" b="0">
                <a:solidFill>
                  <a:schemeClr val="tx1"/>
                </a:solidFill>
                <a:ea typeface="隶书" panose="02010509060101010101" pitchFamily="49" charset="-122"/>
              </a:rPr>
              <a:t>三、树莓派可以用来做什么？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97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双足步行机器人的设计与智能感知研究</a:t>
            </a:r>
          </a:p>
          <a:p>
            <a:pPr marL="457200" lvl="1" indent="0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53252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950" y="1177925"/>
            <a:ext cx="4229100" cy="564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树莓派开发系统环境搭建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树莓派与外界的交互(交叉开发模式)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树莓派应用开发</a:t>
            </a:r>
            <a:endParaRPr lang="zh-CN" altLang="en-US">
              <a:solidFill>
                <a:srgbClr val="002673"/>
              </a:solidFill>
              <a:ea typeface="宋体" panose="02010600030101010101" pitchFamily="2" charset="-122"/>
            </a:endParaRP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55300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1148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树莓派开发系统环境搭建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硬件环境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软件环境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网络环境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	</a:t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57348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39243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1828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树莓派开发系统环境搭建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硬件环境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实验材料的准备、购买、组装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	</a:t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5939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276600"/>
            <a:ext cx="6019800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0010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树莓派开发系统环境搭建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软件环境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Raspbian下载、烧写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Raspbian初次启动配置，Raspi-config，键盘104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Raspbian基本操作，Linux基本命令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Python编程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命令行方式与图形用户界面（startx）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4582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树莓派开发系统环境搭建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网络环境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Linux下常见的网络操作命令：ifconfig、ifup、ifdown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有线网络：网线、DHCP、/etc/network/interface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无线网络：无线网卡、驱动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测试网络是否连通：ping命令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解决常见的网络问题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	</a:t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349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886200"/>
            <a:ext cx="2209800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12954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树莓派与外界的交互</a:t>
            </a:r>
          </a:p>
          <a:p>
            <a:pPr marL="457200" lvl="1" indent="0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串口方式、SSH远程登录、VNC远程控制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	</a:t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554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2941638"/>
            <a:ext cx="7367588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树莓派与外界的交互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串口方式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准备材料：USB转TTL线、驱动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上位机PC：Windows下，Putty、超级终端	               		 Linux下，Minicom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树莓派SD卡中cmdline.txt等配置文件保持默认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硬件连接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PC端配置启动Putty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启动树莓派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7588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425" y="12192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树莓派与外界的交互</a:t>
            </a:r>
            <a:endParaRPr lang="en-US" sz="2800" b="1">
              <a:solidFill>
                <a:srgbClr val="002673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en-US" sz="2800">
                <a:solidFill>
                  <a:srgbClr val="6600CC"/>
                </a:solidFill>
                <a:ea typeface="宋体" panose="02010600030101010101" pitchFamily="2" charset="-122"/>
              </a:rPr>
              <a:t>SSH</a:t>
            </a: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远程登录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搭建好网络环境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PC与树莓派IP地址固定，可以ping通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树莓派端SSH使能，raspi-config工具配置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Windows下使用Putty软件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Linux下使用ssh命令</a:t>
            </a: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9636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425" y="12192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树莓派与外界的交互</a:t>
            </a:r>
            <a:endParaRPr lang="en-US" sz="2800" b="1">
              <a:solidFill>
                <a:srgbClr val="002673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en-US" sz="2800">
                <a:solidFill>
                  <a:srgbClr val="6600CC"/>
                </a:solidFill>
                <a:ea typeface="宋体" panose="02010600030101010101" pitchFamily="2" charset="-122"/>
              </a:rPr>
              <a:t>VNC</a:t>
            </a: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远程控制：树莓派图形用户界面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搭建好网络环境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树莓派端：tightvncserver、密码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Windows下：VNC Viewer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Android下：VNC Viewer</a:t>
            </a:r>
          </a:p>
          <a:p>
            <a:pPr lvl="2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None/>
            </a:pP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71684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63" y="41148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13716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树莓派与外界的交互</a:t>
            </a:r>
            <a:endParaRPr lang="en-US" sz="2800" b="1">
              <a:solidFill>
                <a:srgbClr val="002673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en-US" sz="2800">
                <a:solidFill>
                  <a:srgbClr val="6600CC"/>
                </a:solidFill>
                <a:ea typeface="宋体" panose="02010600030101010101" pitchFamily="2" charset="-122"/>
              </a:rPr>
              <a:t>VNC</a:t>
            </a: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远程控制：树莓派图形用户界面</a:t>
            </a:r>
          </a:p>
          <a:p>
            <a:pPr marL="914400" lvl="2" indent="0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None/>
            </a:pP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7373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01938"/>
            <a:ext cx="54864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四、如何入门树莓派？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6482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树莓派应用开发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课程设计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参考网络上资源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自己动手实践</a:t>
            </a:r>
          </a:p>
          <a:p>
            <a:pPr marL="914400" lvl="2" indent="0" eaLnBrk="1" hangingPunct="1">
              <a:spcAft>
                <a:spcPct val="20000"/>
              </a:spcAft>
              <a:buClr>
                <a:srgbClr val="C00000"/>
              </a:buClr>
              <a:buFont typeface="Wingdings" panose="05000000000000000000" pitchFamily="2" charset="2"/>
              <a:buNone/>
            </a:pP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75780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950" y="4078288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五、开始行动起来吧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树莓派是什么？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树莓派可以用来干什么？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购买材料，动手实践。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学习资源推荐：</a:t>
            </a: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chemeClr val="tx2"/>
                </a:solidFill>
                <a:ea typeface="宋体" panose="02010600030101010101" pitchFamily="2" charset="-122"/>
              </a:rPr>
              <a:t>树莓派官网：</a:t>
            </a:r>
            <a:r>
              <a:rPr lang="zh-CN" altLang="en-US" sz="2400">
                <a:ea typeface="宋体" panose="02010600030101010101" pitchFamily="2" charset="-122"/>
                <a:hlinkClick r:id="rId3"/>
              </a:rPr>
              <a:t>http://www.raspberrypi.org/</a:t>
            </a:r>
            <a:endParaRPr lang="zh-CN" altLang="en-US" sz="2400"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chemeClr val="tx2"/>
                </a:solidFill>
                <a:ea typeface="宋体" panose="02010600030101010101" pitchFamily="2" charset="-122"/>
              </a:rPr>
              <a:t>树莓派实验室：</a:t>
            </a:r>
            <a:r>
              <a:rPr lang="zh-CN" altLang="en-US" sz="2400">
                <a:ea typeface="宋体" panose="02010600030101010101" pitchFamily="2" charset="-122"/>
                <a:hlinkClick r:id="rId4"/>
              </a:rPr>
              <a:t>http://shumeipai.nxez.com/</a:t>
            </a:r>
            <a:endParaRPr lang="zh-CN" altLang="en-US" sz="240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chemeClr val="tx2"/>
                </a:solidFill>
                <a:ea typeface="宋体" panose="02010600030101010101" pitchFamily="2" charset="-122"/>
              </a:rPr>
              <a:t>极客范-树莓派：</a:t>
            </a:r>
            <a:r>
              <a:rPr lang="zh-CN" altLang="en-US" sz="2400">
                <a:solidFill>
                  <a:schemeClr val="tx2"/>
                </a:solidFill>
                <a:ea typeface="宋体" panose="02010600030101010101" pitchFamily="2" charset="-122"/>
                <a:hlinkClick r:id="rId5"/>
              </a:rPr>
              <a:t>http://www.geekfan.net/category/hardware/raspberry-pi-hardware/</a:t>
            </a:r>
            <a:endParaRPr lang="zh-CN" altLang="en-US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77828" name="Picture 3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425" y="12192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0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0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0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五、开始行动起来吧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学习资源推荐：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树莓派论坛：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http://www.shumeipai.net/forum.php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老外的网站：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4"/>
              </a:rPr>
              <a:t>http://www.adafruit.com/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CSDN博客：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5"/>
              </a:rPr>
              <a:t>http://blog.csdn.net/xukai871105/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百度、Bing。。。。。</a:t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79876" name="Picture 3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40386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五、开始行动起来吧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7620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树莓派官网：</a:t>
            </a:r>
            <a:r>
              <a:rPr lang="zh-CN" altLang="en-US">
                <a:ea typeface="宋体" panose="02010600030101010101" pitchFamily="2" charset="-122"/>
                <a:hlinkClick r:id="rId2"/>
              </a:rPr>
              <a:t>http://www.raspberrypi.org/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8192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33600"/>
            <a:ext cx="8534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五、开始行动起来吧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8382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树莓派论坛：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http://www.shumeipai.net/forum.php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    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82948" name="图片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2130425"/>
            <a:ext cx="8534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五、开始行动起来吧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7620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Adafruit的树莓派教程：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https://www.adafruit.com/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84996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2133600"/>
            <a:ext cx="85359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b="0">
                <a:solidFill>
                  <a:schemeClr val="tx1"/>
                </a:solidFill>
                <a:ea typeface="隶书" panose="02010509060101010101" pitchFamily="49" charset="-122"/>
              </a:rPr>
              <a:t>五、开始行动起来吧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848600" cy="4495800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>
                <a:solidFill>
                  <a:srgbClr val="002673"/>
                </a:solidFill>
                <a:ea typeface="宋体" panose="02010600030101010101" pitchFamily="2" charset="-122"/>
              </a:rPr>
              <a:t>学习资源推荐：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>CSDN博客：</a:t>
            </a: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  <a:hlinkClick r:id="rId3"/>
              </a:rPr>
              <a:t>http://blog.csdn.net/xukai871105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spcAft>
                <a:spcPct val="20000"/>
              </a:spcAft>
              <a:buClr>
                <a:srgbClr val="6600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  <a:t/>
            </a:r>
            <a:br>
              <a:rPr lang="zh-CN" altLang="en-US">
                <a:solidFill>
                  <a:schemeClr val="tx2"/>
                </a:solidFill>
                <a:ea typeface="宋体" panose="02010600030101010101" pitchFamily="2" charset="-122"/>
              </a:rPr>
            </a:br>
            <a:endParaRPr lang="zh-CN" altLang="en-US" b="1">
              <a:solidFill>
                <a:schemeClr val="tx2"/>
              </a:solidFill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87044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88" y="2716213"/>
            <a:ext cx="7656512" cy="410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WordArt 5"/>
          <p:cNvSpPr>
            <a:spLocks noChangeArrowheads="1" noChangeShapeType="1" noTextEdit="1"/>
          </p:cNvSpPr>
          <p:nvPr/>
        </p:nvSpPr>
        <p:spPr bwMode="auto">
          <a:xfrm>
            <a:off x="4343400" y="914400"/>
            <a:ext cx="4799013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Any Questions</a:t>
            </a:r>
            <a:r>
              <a:rPr lang="zh-CN" altLang="en-US" sz="3600"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？</a:t>
            </a:r>
          </a:p>
        </p:txBody>
      </p:sp>
      <p:pic>
        <p:nvPicPr>
          <p:cNvPr id="89091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1200"/>
            <a:ext cx="17907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Pages>0</Pages>
  <Words>4659</Words>
  <Characters>0</Characters>
  <Application>Microsoft Office PowerPoint</Application>
  <DocSecurity>0</DocSecurity>
  <PresentationFormat>全屏显示(4:3)</PresentationFormat>
  <Lines>0</Lines>
  <Paragraphs>294</Paragraphs>
  <Slides>43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宋体</vt:lpstr>
      <vt:lpstr>Wingdings</vt:lpstr>
      <vt:lpstr>Times New Roman</vt:lpstr>
      <vt:lpstr>华文新魏</vt:lpstr>
      <vt:lpstr>隶书</vt:lpstr>
      <vt:lpstr>幼圆</vt:lpstr>
      <vt:lpstr>Default Design</vt:lpstr>
      <vt:lpstr>1_Default Design</vt:lpstr>
      <vt:lpstr>初识树莓派</vt:lpstr>
      <vt:lpstr>内容提要</vt:lpstr>
      <vt:lpstr>一、你想学嵌入式开发吗？</vt:lpstr>
      <vt:lpstr>一、你想学嵌入式开发吗？</vt:lpstr>
      <vt:lpstr>一、你想学嵌入式开发吗？</vt:lpstr>
      <vt:lpstr>一、你想学嵌入式开发吗？</vt:lpstr>
      <vt:lpstr>一、你想学嵌入式开发吗？</vt:lpstr>
      <vt:lpstr>一、你想学嵌入式开发吗？</vt:lpstr>
      <vt:lpstr>二、树莓派是什么？</vt:lpstr>
      <vt:lpstr>二、树莓派是什么？</vt:lpstr>
      <vt:lpstr>二、树莓派是什么？</vt:lpstr>
      <vt:lpstr>二、树莓派是什么？</vt:lpstr>
      <vt:lpstr>二、树莓派是什么？</vt:lpstr>
      <vt:lpstr>二、树莓派是什么？</vt:lpstr>
      <vt:lpstr>二、树莓派是什么？</vt:lpstr>
      <vt:lpstr>三、树莓派可以用来做什么？</vt:lpstr>
      <vt:lpstr>三、树莓派可以用来做什么？</vt:lpstr>
      <vt:lpstr>三、树莓派可以用来做什么？</vt:lpstr>
      <vt:lpstr>三、树莓派可以用来做什么？</vt:lpstr>
      <vt:lpstr>三、树莓派可以用来做什么？</vt:lpstr>
      <vt:lpstr>三、树莓派可以用来做什么？</vt:lpstr>
      <vt:lpstr>三、树莓派可以用来做什么？</vt:lpstr>
      <vt:lpstr>三、树莓派可以用来做什么？</vt:lpstr>
      <vt:lpstr>三、树莓派可以用来做什么？</vt:lpstr>
      <vt:lpstr>三、树莓派可以用来做什么？</vt:lpstr>
      <vt:lpstr>四、如何入门树莓派？</vt:lpstr>
      <vt:lpstr>四、如何入门树莓派？</vt:lpstr>
      <vt:lpstr>四、如何入门树莓派？</vt:lpstr>
      <vt:lpstr>四、如何入门树莓派？</vt:lpstr>
      <vt:lpstr>四、如何入门树莓派？</vt:lpstr>
      <vt:lpstr>四、如何入门树莓派？</vt:lpstr>
      <vt:lpstr>四、如何入门树莓派？</vt:lpstr>
      <vt:lpstr>四、如何入门树莓派？</vt:lpstr>
      <vt:lpstr>四、如何入门树莓派？</vt:lpstr>
      <vt:lpstr>四、如何入门树莓派？</vt:lpstr>
      <vt:lpstr>四、如何入门树莓派？</vt:lpstr>
      <vt:lpstr>五、开始行动起来吧</vt:lpstr>
      <vt:lpstr>五、开始行动起来吧</vt:lpstr>
      <vt:lpstr>五、开始行动起来吧</vt:lpstr>
      <vt:lpstr>五、开始行动起来吧</vt:lpstr>
      <vt:lpstr>五、开始行动起来吧</vt:lpstr>
      <vt:lpstr>五、开始行动起来吧</vt:lpstr>
      <vt:lpstr>PowerPoint 演示文稿</vt:lpstr>
    </vt:vector>
  </TitlesOfParts>
  <Manager/>
  <Company>GuildDesign Inc.</Company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subject/>
  <dc:creator>ThemeGallery.com</dc:creator>
  <cp:keywords/>
  <dc:description/>
  <cp:lastModifiedBy>lhli</cp:lastModifiedBy>
  <cp:revision>727</cp:revision>
  <dcterms:created xsi:type="dcterms:W3CDTF">2004-07-20T18:43:03Z</dcterms:created>
  <dcterms:modified xsi:type="dcterms:W3CDTF">2015-12-30T14:09:18Z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2052-9.1.0.4369</vt:lpwstr>
  </property>
</Properties>
</file>